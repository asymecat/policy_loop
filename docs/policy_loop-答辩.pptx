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5"/>
  </p:notesMasterIdLst>
  <p:sldIdLst>
    <p:sldId id="256" r:id="rId1"/>
    <p:sldId id="257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59" r:id="rId4"/>
  </p:sldIdLst>
  <p:sldSz cx="12192000" cy="6858000"/>
  <p:notesSz cx="6858000" cy="9144000"/>
  <p:defaultTextStyle>
    <a:defPPr>
      <a:defRPr lang="zh-CN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351" userDrawn="true">
          <p15:clr>
            <a:srgbClr val="A4A3A4"/>
          </p15:clr>
        </p15:guide>
        <p15:guide id="2" pos="3840" userDrawn="true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prstClr val="red"/>
    </p:penClr>
    <p:extLst>
      <p:ext uri="{EC167BDD-8182-4AB7-AECC-EB403E3ABB37}"/>
      <p:ext uri="{2FDB2607-1784-4EEB-B798-7EB5836EED8A}"/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6491" autoAdjust="false"/>
    <p:restoredTop sz="94607" autoAdjust="false"/>
  </p:normalViewPr>
  <p:slideViewPr>
    <p:cSldViewPr snapToGrid="false" showGuides="true">
      <p:cViewPr varScale="true">
        <p:scale>
          <a:sx n="62" d="100"/>
          <a:sy n="62" d="100"/>
        </p:scale>
        <p:origin x="1192" y="52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tableStyles" Target="tableStyles.xml"/><Relationship Id="rId8" Type="http://schemas.openxmlformats.org/officeDocument/2006/relationships/viewProps" Target="viewProp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r">
              <a:defRPr sz="1200"/>
            </a:lvl1pPr>
          </a:lstStyle>
          <a:p>
            <a:pPr/>
            <a:fld id="{99CE6E62-0A4A-440F-A3A0-1904151E0F67}" type="datetimeFigureOut">
              <a:rPr lang="zh-CN" altLang="en-US" smtClean="false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false" anchor="ctr"/>
          <a:lstStyle/>
          <a:p>
            <a:pPr/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false"/>
          <a:lstStyle/>
          <a:p>
            <a:pPr lvl="0"/>
            <a:r>
              <a:rPr lang="zh-CN" altLang="en-US"/>
              <a:t>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r">
              <a:defRPr sz="1200"/>
            </a:lvl1pPr>
          </a:lstStyle>
          <a:p>
            <a:pPr/>
            <a:fld id="{F45C4DF4-6413-405D-8311-20A510DC5EFC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true" noRot="true" noChangeAspec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true"/>
          </p:cNvSpPr>
          <p:nvPr>
            <p:ph type="body"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5"/>
          </p:nvPr>
        </p:nvSpPr>
        <p:spPr/>
        <p:txBody>
          <a:bodyPr/>
          <a:lstStyle/>
          <a:p>
            <a:pPr/>
            <a:fld id="{F45C4DF4-6413-405D-8311-20A510DC5EFC}" type="slidenum">
              <a:rPr lang="zh-CN" altLang="en-US" smtClean="false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50 秒：SELinux 是强制门禁，但 denial 对开发者有三个卡点：读不懂、不知道在哪补、补不对。上游策略仓库自己的注释里就埋着 5,230 条历史 denial，全靠人力诊断。现实中的应对往往是把门禁关成 permissive —— 系统看起来正常了，门实际上没有了。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秒：我们不回答「这条访问要放行吗」，而是「该不该放行」。撞系统红线的一律拒绝自动放权；补丁要求精确最小；补完还要验证真的消除且没有回归。验收指标是可量化的四组。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35 秒：系统按「能独立验证」分四层，主机端重、设备端轻，中间只有一条窄接口：构建期导出的 PLI 只读索引，以及 JSON/TSV 判定结果。同一份判定逻辑三次落地：Python 做对语义、评测证明它收敛、设备端做原生组件并差分证明等价。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秒：四条原则。最关键的是第一条：所有安全决策都是确定性规则，LLM 不参与判定，只在配置了 key 时写人话解释。第二条：工具永不自动写盘。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50 秒：这是最常被问的问题——为什么不把整个 PolicyLoop 搬到设备上？两个事实：设备上没有 .te 源码；neverallow 是编译期断言，原理上不写进二进制策略。拿不到红线，工具就退化成「看到 denial 就建议放权」。所以索引必须构建期导出、设备端只负责用语义。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50 秒：一条 denial 走七个 Agent 的单向链。两个刻意设计：CrossLayerAgent 只读，加不加它结论不变；流水线不含回路，Verify 失败直接归「需人工」——允许重试等于让它迭代出一个更宽的补丁。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35 秒：五道拒绝点 + 六道 apply_guards。右边这个真实例子最能说明问题：策略已经允许了 ioctl 大类，缺的只是一个命令号；「看到 denial 就加 allow」会写一条已经存在的规则。我们给的是 allowxperm。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35 秒：整份 5,161 条日志，去重后 4,911 个唯一案例，4.16 秒出清单：70 类可自动出最小补丁，1,580 类需人工。这个 1,580 是工具主动拒绝越权的结果，不是它做不到。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35 秒：补丁 69 行归并成 54 条根因规则。闭环反验多证了一件事：套回之前这些案例确实没被解决，否则本来就允许的案例会被算成补丁的功劳。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秒：1,580 条逐条归因「该谁修」，真正需要给设备补权限的是 0 条：大部分是语料的历史噪声，小部分是工具侧对齐和日志质量问题，38 条是撞红线的架构决策。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40 秒：设备端是独立的 C++ 实现，五项门禁证明两端同源。最有说服力的是第五项：27,912 条查询、2.98 MB 输出逐字节相同。空 perms、xperm 大小写、permissive 三态、未知 perm 名，错一个哈希就炸。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秒：原来的线性扫描换成类型对倒排索引，设备侧 34 倍、宿主侧 238 倍。请注意口径：板端的「约 2 秒」是按倍数外推，不是测量，上板后还要复测。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秒：这是我们的对照实验。未受约束的 AI 直接放权，过宽率 100%；同批样本经过确定性护栏，0%。越权倾向是 LLM 的默认行为，提示词消除不掉，只能靠规则兜住。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秒：两处界面。原则是如实区分数据来源：工具造成的 denial 必须标注「工具造成」，「累计案例」和「本次窗口行数」分开计数。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40 秒：采集器是正规 init service，开机自启、自有 enforcing 域。拨一次开关，1~2 秒出结论。结论一句话：部署依赖 PC，运行不依赖 PC。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20 秒：一页回顾六个关键数字，每一个都能用报告附录 A 的命令复现。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40 秒：四个坑都改变过设计。共同点是「看起来正常」的假象：服务活着、日志干净、策略也对，缺陷在看不见的地方。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秒：安全工具的可信度来自说清边界。语料来自上游注释而不是设备采集；构造内自洽不等于独立金标准；外推值一律标注；未做但已证伪的写证伪。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秒：交付前必补的三项和下一步方向。谢谢各位老师。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开场（约 10 秒）：各位评委老师好，我们是【团队名称】。参赛作品 PolicyLoop，解决的是 OpenHarmony SELinux 拒绝日志的诊断与最小权限修复问题。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10 秒：汇报分三部分 —— 为什么要做、怎么做的、实测到了什么程度，以及我们主动划出的边界。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1.png"/></Relationships>
</file>

<file path=ppt/slideLayouts/_rels/slideLayout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2.png"/><Relationship Id="rId2" Type="http://schemas.openxmlformats.org/officeDocument/2006/relationships/image" Target="media/image3.png"/><Relationship Id="rId3" Type="http://schemas.openxmlformats.org/officeDocument/2006/relationships/image" Target="media/image4.png"/></Relationships>
</file>

<file path=ppt/slideLayouts/_rels/slideLayout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5.png"/></Relationships>
</file>

<file path=ppt/slideLayouts/_rels/slideLayout6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6.png"/><Relationship Id="rId2" Type="http://schemas.openxmlformats.org/officeDocument/2006/relationships/image" Target="media/image5.png"/></Relationships>
</file>

<file path=ppt/slideLayouts/_rels/slideLayout7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true"/>
          </p:cNvPicPr>
          <p:nvPr userDrawn="true"/>
        </p:nvPicPr>
        <p:blipFill>
          <a:blip r:embed="rId1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true"/>
          </p:cNvPicPr>
          <p:nvPr userDrawn="true"/>
        </p:nvPicPr>
        <p:blipFill rotWithShape="true">
          <a:blip r:embed="rId1" cstate="print">
            <a:alphaModFix amt="20000"/>
            <a:extLst>
              <a:ext uri="{28A0092B-C50C-407E-A947-70E740481C1C}"/>
            </a:extLst>
          </a:blip>
          <a:srcRect b="13216"/>
          <a:stretch/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11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true"/>
          </p:cNvPicPr>
          <p:nvPr userDrawn="true"/>
        </p:nvPicPr>
        <p:blipFill>
          <a:blip r:embed="rId2" cstate="print">
            <a:alphaModFix amt="21000"/>
            <a:extLst>
              <a:ext uri="{28A0092B-C50C-407E-A947-70E740481C1C}"/>
            </a:extLst>
          </a:blip>
          <a:srcRect/>
          <a:stretch/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true"/>
          </p:cNvPicPr>
          <p:nvPr userDrawn="true"/>
        </p:nvPicPr>
        <p:blipFill>
          <a:blip r:embed="rId3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showMasterSp="false" type="title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2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sp>
        <p:nvSpPr>
          <p:cNvPr id="28" name="文本占位符 9"/>
          <p:cNvSpPr>
            <a:spLocks noGrp="true"/>
          </p:cNvSpPr>
          <p:nvPr>
            <p:ph type="body" sz="quarter" idx="13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true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true" lang="zh-CN" altLang="en-US"/>
              <a:t>单击此处编辑母版文本</a:t>
            </a:r>
            <a:endParaRPr/>
          </a:p>
        </p:txBody>
      </p:sp>
      <p:pic>
        <p:nvPicPr>
          <p:cNvPr id="29" name="图片 1"/>
          <p:cNvPicPr>
            <a:picLocks noChangeAspect="true"/>
          </p:cNvPicPr>
          <p:nvPr userDrawn="true"/>
        </p:nvPicPr>
        <p:blipFill>
          <a:blip r:embed="rId1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true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3" name="图片 3"/>
          <p:cNvPicPr>
            <a:picLocks noChangeAspect="true"/>
          </p:cNvPicPr>
          <p:nvPr userDrawn="true"/>
        </p:nvPicPr>
        <p:blipFill rotWithShape="true">
          <a:blip r:embed="rId1" cstate="print">
            <a:alphaModFix amt="35000"/>
            <a:biLevel thresh="25000"/>
            <a:extLst>
              <a:ext uri="{28A0092B-C50C-407E-A947-70E740481C1C}"/>
            </a:extLst>
          </a:blip>
          <a:srcRect t="32381"/>
          <a:stretch/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3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true"/>
          </p:cNvPicPr>
          <p:nvPr userDrawn="true"/>
        </p:nvPicPr>
        <p:blipFill>
          <a:blip r:embed="rId2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0" name="组合 1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2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true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false">
            <a:spAutoFit/>
          </a:bodyPr>
          <a:lstStyle/>
          <a:p>
            <a:pPr marL="0" marR="0" lvl="0" indent="0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false" lang="zh-CN" altLang="en-US" sz="40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/>
          </a:p>
        </p:txBody>
      </p:sp>
      <p:sp>
        <p:nvSpPr>
          <p:cNvPr id="44" name="文本框 10"/>
          <p:cNvSpPr txBox="true"/>
          <p:nvPr userDrawn="true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3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7" name="组合 5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9" name="直接连接符 7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FABC47A4-756D-490B-A52F-7D9E2C9FC05F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hdr="false" ftr="false" dt="false"/>
  <p:txStyles>
    <p:titleStyle>
      <a:lvl1pPr algn="l" defTabSz="914400" rtl="false" eaLnBrk="true" latinLnBrk="false" hangingPunct="true">
        <a:lnSpc>
          <a:spcPct val="90000"/>
        </a:lnSpc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false" eaLnBrk="true" latinLnBrk="false" hangingPunct="true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4.xml"/><Relationship Id="rId1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true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en-US" altLang="zh-CN" sz="1600" dirty="false" err="tru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【团队名称】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年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10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月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18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日</a:t>
            </a:r>
            <a:endParaRPr lang="zh-CN" altLang="en-US" sz="14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true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true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true"/>
          <p:nvPr/>
        </p:nvSpPr>
        <p:spPr>
          <a:xfrm>
            <a:off x="3232175" y="2868089"/>
            <a:ext cx="5727650" cy="52322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2800" dirty="false" err="tru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PolicyLoop</a:t>
            </a:r>
            <a:r>
              <a:rPr lang="zh-CN" altLang="en-US" sz="2800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：SELinux 拒绝日志的最小权限自收敛</a:t>
            </a:r>
            <a:endParaRPr lang="en-US" altLang="zh-CN" sz="2800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/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设计与实现</a:t>
            </a:r>
            <a:r>
              <a:rPr lang="en-US" altLang="zh-CN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/>
            </a:r>
            <a:endParaRPr/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/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实测与边界</a:t>
            </a:r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/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/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问题与目标</a:t>
            </a:r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/>
            </a:r>
            <a:endParaRPr/>
          </a:p>
        </p:txBody>
      </p:sp>
      <p:sp>
        <p:nvSpPr>
          <p:cNvPr id="12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2</a:t>
            </a:fld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true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marL="0" marR="0" lvl="0" indent="0" algn="ctr" defTabSz="914400" rtl="false" eaLnBrk="true" fontAlgn="base" latinLnBrk="false" hangingPunct="tru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66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false" lang="en-US" altLang="zh-CN" sz="6600" b="true" i="false" u="none" strike="noStrike" kern="1200" cap="none" spc="0" normalizeH="false" baseline="0" noProof="false" dirty="false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18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4</a:t>
            </a:fld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一条 denial，卡住三件事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读不懂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scontext / tcontext / tclass / 权限位自成一套词汇；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现场通常只看到「功能失败」，看不到「为什么」。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15968" y="132588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不知道在哪补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规则散在 1,315 个 .te 文件里，按子系统分目录；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一条 denial 该落在 system/ 还是 vendor/，靠经验。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9016" y="132588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补不对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最省事的做法是「看到 denial 就加 allow」——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把一次越权尝试固化成永久授权。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47872"/>
            <a:ext cx="11185855" cy="658368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现实中的应对：把门禁关成 permissive —— 系统看起来正常了，实际处于无强制拦截状态。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70832"/>
            <a:ext cx="111858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B4"/>
                </a:solidFill>
                <a:latin typeface="微软雅黑"/>
                <a:ea typeface="微软雅黑"/>
              </a:rPr>
              <a:t>上游策略仓库一次全量统计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36592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0078B4"/>
                </a:solidFill>
                <a:latin typeface="微软雅黑"/>
                <a:ea typeface="微软雅黑"/>
              </a:rPr>
              <a:t>1,315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个 .te 策略文件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2696" y="4736592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0078B4"/>
                </a:solidFill>
                <a:latin typeface="微软雅黑"/>
                <a:ea typeface="微软雅黑"/>
              </a:rPr>
              <a:t>51,427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行策略源码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62472" y="4736592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0078B4"/>
                </a:solidFill>
                <a:latin typeface="微软雅黑"/>
                <a:ea typeface="微软雅黑"/>
              </a:rPr>
              <a:t>5,230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条历史 denial 注释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4736592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0078B4"/>
                </a:solidFill>
                <a:latin typeface="微软雅黑"/>
                <a:ea typeface="微软雅黑"/>
              </a:rPr>
              <a:t>21,824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条索引出的规则</a:t>
            </a:r>
          </a:p>
        </p:txBody>
      </p:sp>
      <p:sp>
        <p:nvSpPr>
          <p:cNvPr id="3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3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从「放行」到「该不该放行」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同一件事的更严格版本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89888"/>
          <a:ext cx="11185854" cy="39502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24861"/>
                <a:gridCol w="7260993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常见做法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本作品的目标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这条访问要放行吗？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这条访问该不该放行？撞系统红线的一律拒绝自动放权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加哪条规则？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最小的那条是什么？多一个权限位都算失败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加完就行了吗？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denial 消失了吗？有没有引入新的越权？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一条一条看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整份日志一次收敛成可执行清单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拿不准的就写「转人工」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转人工之后逐条归因「该谁修」—— 实测真正要打补丁的只有 0 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5504688"/>
            <a:ext cx="11185855" cy="603504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78B4"/>
                </a:solidFill>
                <a:latin typeface="微软雅黑"/>
                <a:ea typeface="微软雅黑"/>
              </a:rPr>
              <a:t>验收可量化：策略覆盖率 · 补丁最小性 · 零越权（撞 neverallow 一律拒绝）· 真机端到端一致</a:t>
            </a:r>
          </a:p>
        </p:txBody>
      </p:sp>
      <p:sp>
        <p:nvSpPr>
          <p:cNvPr id="4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4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总体架构：主机端重、设备端轻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LAYERED  ·  L1 确定性内核 → L2 评测基线 → L3 诊断流水线 → L4 设备端</a:t>
            </a:r>
          </a:p>
        </p:txBody>
      </p:sp>
      <p:pic>
        <p:nvPicPr>
          <p:cNvPr id="4" name="Picture 3" descr="fig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815" y="1234440"/>
            <a:ext cx="7370064" cy="4160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59552"/>
            <a:ext cx="11185855" cy="603504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78B4"/>
                </a:solidFill>
                <a:latin typeface="微软雅黑"/>
                <a:ea typeface="微软雅黑"/>
              </a:rPr>
              <a:t>两侧之间只有一条窄接口：PLI 只读索引（构建期导出、随镜像下发）+ JSON / TSV 判定结果</a:t>
            </a:r>
          </a:p>
        </p:txBody>
      </p:sp>
      <p:sp>
        <p:nvSpPr>
          <p:cNvPr id="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5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四条设计原则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模块划分与流程设计都是它们的展开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50" b="1">
                <a:solidFill>
                  <a:srgbClr val="0F1423"/>
                </a:solidFill>
                <a:latin typeface="微软雅黑"/>
                <a:ea typeface="微软雅黑"/>
              </a:rPr>
              <a:t>① 确定性内核优先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解析、索引、根因、补丁、评审、验证全部是纯规则、纯标准库；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LLM 只在配置了 key 时写「人话解释」，不参与任何安全决策。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8192" y="132588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50" b="1">
                <a:solidFill>
                  <a:srgbClr val="0F1423"/>
                </a:solidFill>
                <a:latin typeface="微软雅黑"/>
                <a:ea typeface="微软雅黑"/>
              </a:rPr>
              <a:t>② 绝不自动写盘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只产出「建议补丁 + 落点提示」；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是否写入 .te、是否重建策略、是否上 enforcing，由人决定。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5760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50" b="1">
                <a:solidFill>
                  <a:srgbClr val="0F1423"/>
                </a:solidFill>
                <a:latin typeface="微软雅黑"/>
                <a:ea typeface="微软雅黑"/>
              </a:rPr>
              <a:t>③ 先仿真、后真机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先用上游真实语料做数据仿真与量化评测（成本低、可反复），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再上真机取独立证据。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8192" y="365760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50" b="1">
                <a:solidFill>
                  <a:srgbClr val="0F1423"/>
                </a:solidFill>
                <a:latin typeface="微软雅黑"/>
                <a:ea typeface="微软雅黑"/>
              </a:rPr>
              <a:t>④ 设备端只搬「属于设备的那一段」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需要读内核日志、需要脱离 PC 运行的才下沉；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多智能体编排与评测工具留在主机。</a:t>
            </a:r>
          </a:p>
        </p:txBody>
      </p:sp>
      <p:sp>
        <p:nvSpPr>
          <p:cNvPr id="6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6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为什么设备端只搬「属于设备的那一段」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一个被实测逼出来的架构约束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486400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设备上没有策略源码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find /system /vendor -name "*.te" 为空；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SELinux 的全部家当只有 config、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编译后的 policy.31（424,699 B）与 *_contexts。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74720"/>
            <a:ext cx="5486400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neverallow 不在二进制策略里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它是编译期断言：libsepol 的 expand.c:2736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写明不写进产出的策略。设备上拿不到红线。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42513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54C5E"/>
                </a:solidFill>
                <a:latin typeface="微软雅黑"/>
                <a:ea typeface="微软雅黑"/>
              </a:rPr>
              <a:t>拿不到红线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148840"/>
            <a:ext cx="542513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54C5E"/>
                </a:solidFill>
                <a:latin typeface="微软雅黑"/>
                <a:ea typeface="微软雅黑"/>
              </a:rPr>
              <a:t>→ 工具退化成「看到 denial 就建议放权」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971800"/>
            <a:ext cx="542513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E54C5E"/>
                </a:solidFill>
                <a:latin typeface="微软雅黑"/>
                <a:ea typeface="微软雅黑"/>
              </a:rPr>
              <a:t>→ 正是它最该避免的行为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794760"/>
            <a:ext cx="542513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78B4"/>
                </a:solidFill>
                <a:latin typeface="微软雅黑"/>
                <a:ea typeface="微软雅黑"/>
              </a:rPr>
              <a:t>→ 结论：索引必须构建期导出、随镜像下发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542513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EA65B"/>
                </a:solidFill>
                <a:latin typeface="微软雅黑"/>
                <a:ea typeface="微软雅黑"/>
              </a:rPr>
              <a:t>→ 设备端用语义，不构建语义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504688"/>
            <a:ext cx="11185855" cy="621792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微软雅黑"/>
                <a:ea typeface="微软雅黑"/>
              </a:rPr>
              <a:t>上游 570 条红线，索引看得见 430 条（419 neverallow + 11 neverallowxperm）；可见性缺口由部署期 secilc 断言补第二道</a:t>
            </a:r>
          </a:p>
        </p:txBody>
      </p:sp>
      <p:sp>
        <p:nvSpPr>
          <p:cNvPr id="7" name="灯片编号占位符 7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7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七 Agent 诊断流水线：一条单向链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Orchestrator 是严格状态机，每步输入输出都是可打印的结构化字段</a:t>
            </a:r>
          </a:p>
        </p:txBody>
      </p:sp>
      <p:pic>
        <p:nvPicPr>
          <p:cNvPr id="4" name="Picture 3" descr="fig2-agent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650" y="1188720"/>
            <a:ext cx="8706394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230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423"/>
                </a:solidFill>
                <a:latin typeface="微软雅黑"/>
                <a:ea typeface="微软雅黑"/>
              </a:rPr>
              <a:t>两个刻意的设计：</a:t>
            </a:r>
          </a:p>
          <a:p>
            <a:pPr>
              <a:lnSpc>
                <a:spcPct val="125000"/>
              </a:lnSpc>
            </a:pPr>
            <a:r>
              <a:rPr sz="1400" b="1">
                <a:solidFill>
                  <a:srgbClr val="0078B4"/>
                </a:solidFill>
                <a:latin typeface="微软雅黑"/>
                <a:ea typeface="微软雅黑"/>
              </a:rPr>
              <a:t>CrossLayerAgent 只读</a:t>
            </a:r>
            <a:r>
              <a:rPr sz="1400" b="0">
                <a:solidFill>
                  <a:srgbClr val="5B6474"/>
                </a:solidFill>
                <a:latin typeface="微软雅黑"/>
                <a:ea typeface="微软雅黑"/>
              </a:rPr>
              <a:t>（只出跨层建议，加不加它结论都不变）；</a:t>
            </a:r>
            <a:r>
              <a:rPr sz="1400" b="1">
                <a:solidFill>
                  <a:srgbClr val="0078B4"/>
                </a:solidFill>
                <a:latin typeface="微软雅黑"/>
                <a:ea typeface="微软雅黑"/>
              </a:rPr>
              <a:t>流水线不含回路</a:t>
            </a:r>
            <a:r>
              <a:rPr sz="1400" b="0">
                <a:solidFill>
                  <a:srgbClr val="5B6474"/>
                </a:solidFill>
                <a:latin typeface="微软雅黑"/>
                <a:ea typeface="微软雅黑"/>
              </a:rPr>
              <a:t>——Verify 失败或 Reviewer 否决即归「需人工」，不回 Repair 重算，否则等于迭代出一个更宽的补丁。</a:t>
            </a:r>
          </a:p>
        </p:txBody>
      </p:sp>
      <p:sp>
        <p:nvSpPr>
          <p:cNvPr id="8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8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守门：不猜、不宽、不放行红线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五道拒绝点（流水线） + 六道 apply_guards（converge 与 --explain 共用同一份实现）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5778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00B0F0"/>
                </a:solidFill>
                <a:latin typeface="微软雅黑"/>
                <a:ea typeface="微软雅黑"/>
              </a:rPr>
              <a:t>1  </a:t>
            </a:r>
            <a:r>
              <a:rPr sz="1550" b="1">
                <a:solidFill>
                  <a:srgbClr val="0F1423"/>
                </a:solidFill>
                <a:latin typeface="微软雅黑"/>
                <a:ea typeface="微软雅黑"/>
              </a:rPr>
              <a:t>撞 neverallow</a:t>
            </a: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　直接转人工，拒绝自动放权</a:t>
            </a:r>
          </a:p>
          <a:p>
            <a:pPr>
              <a:lnSpc>
                <a:spcPct val="115000"/>
              </a:lnSpc>
              <a:spcBef>
                <a:spcPts val="1300"/>
              </a:spcBef>
            </a:pPr>
            <a:r>
              <a:rPr sz="2000" b="1">
                <a:solidFill>
                  <a:srgbClr val="00B0F0"/>
                </a:solidFill>
                <a:latin typeface="微软雅黑"/>
                <a:ea typeface="微软雅黑"/>
              </a:rPr>
              <a:t>2  </a:t>
            </a:r>
            <a:r>
              <a:rPr sz="1550" b="1">
                <a:solidFill>
                  <a:srgbClr val="0F1423"/>
                </a:solidFill>
                <a:latin typeface="微软雅黑"/>
                <a:ea typeface="微软雅黑"/>
              </a:rPr>
              <a:t>解析出的目标仍不许访问</a:t>
            </a: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　拒发补丁</a:t>
            </a:r>
          </a:p>
          <a:p>
            <a:pPr>
              <a:lnSpc>
                <a:spcPct val="115000"/>
              </a:lnSpc>
              <a:spcBef>
                <a:spcPts val="1300"/>
              </a:spcBef>
            </a:pPr>
            <a:r>
              <a:rPr sz="2000" b="1">
                <a:solidFill>
                  <a:srgbClr val="00B0F0"/>
                </a:solidFill>
                <a:latin typeface="微软雅黑"/>
                <a:ea typeface="微软雅黑"/>
              </a:rPr>
              <a:t>3  </a:t>
            </a:r>
            <a:r>
              <a:rPr sz="1550" b="1">
                <a:solidFill>
                  <a:srgbClr val="0F1423"/>
                </a:solidFill>
                <a:latin typeface="微软雅黑"/>
                <a:ea typeface="微软雅黑"/>
              </a:rPr>
              <a:t>占位符目标未解析</a:t>
            </a: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　转人工，不猜</a:t>
            </a:r>
          </a:p>
          <a:p>
            <a:pPr>
              <a:lnSpc>
                <a:spcPct val="115000"/>
              </a:lnSpc>
              <a:spcBef>
                <a:spcPts val="1300"/>
              </a:spcBef>
            </a:pPr>
            <a:r>
              <a:rPr sz="2000" b="1">
                <a:solidFill>
                  <a:srgbClr val="00B0F0"/>
                </a:solidFill>
                <a:latin typeface="微软雅黑"/>
                <a:ea typeface="微软雅黑"/>
              </a:rPr>
              <a:t>4  </a:t>
            </a:r>
            <a:r>
              <a:rPr sz="1550" b="1">
                <a:solidFill>
                  <a:srgbClr val="0F1423"/>
                </a:solidFill>
                <a:latin typeface="微软雅黑"/>
                <a:ea typeface="微软雅黑"/>
              </a:rPr>
              <a:t>补丁须过 Reviewer 评审</a:t>
            </a: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　过宽 / 危险模式拦截</a:t>
            </a:r>
          </a:p>
          <a:p>
            <a:pPr>
              <a:lnSpc>
                <a:spcPct val="115000"/>
              </a:lnSpc>
              <a:spcBef>
                <a:spcPts val="1300"/>
              </a:spcBef>
            </a:pPr>
            <a:r>
              <a:rPr sz="2000" b="1">
                <a:solidFill>
                  <a:srgbClr val="00B0F0"/>
                </a:solidFill>
                <a:latin typeface="微软雅黑"/>
                <a:ea typeface="微软雅黑"/>
              </a:rPr>
              <a:t>5  </a:t>
            </a:r>
            <a:r>
              <a:rPr sz="1550" b="1">
                <a:solidFill>
                  <a:srgbClr val="0F1423"/>
                </a:solidFill>
                <a:latin typeface="微软雅黑"/>
                <a:ea typeface="微软雅黑"/>
              </a:rPr>
              <a:t>补丁须在索引副本上 Verify 成功</a:t>
            </a: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　必须真消除且无回归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298448"/>
            <a:ext cx="5333695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>
                <a:solidFill>
                  <a:srgbClr val="0F1423"/>
                </a:solidFill>
                <a:latin typeface="微软雅黑"/>
                <a:ea typeface="微软雅黑"/>
              </a:rPr>
              <a:t>典型反例：只差一个命令号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render_service → dev_mali:chr_file ioctl 0x8014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策略已允许 ioctl 大类，缺的只是 allowxperm 白名单里的一个命令号。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E54C5E"/>
                </a:solidFill>
                <a:latin typeface="微软雅黑"/>
                <a:ea typeface="微软雅黑"/>
              </a:rPr>
              <a:t>「看到 denial 就加 allow」会写一条已经存在的规则 —— 写了等于没写。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423"/>
                </a:solidFill>
                <a:latin typeface="微软雅黑"/>
                <a:ea typeface="微软雅黑"/>
              </a:rPr>
              <a:t>本作品给出：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078B4"/>
                </a:solidFill>
                <a:latin typeface="微软雅黑"/>
                <a:ea typeface="微软雅黑"/>
              </a:rPr>
              <a:t>allowxperm render_service dev_mali:chr_file ioctl { 0x8014 };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504688"/>
            <a:ext cx="11185855" cy="621792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078B4"/>
                </a:solidFill>
                <a:latin typeface="微软雅黑"/>
                <a:ea typeface="微软雅黑"/>
              </a:rPr>
              <a:t>apply_guards 的六个分支（MLS 级目标 / 占位符 / 主体目标不在语料 / 对象类不在语料 / 非权限名 / 空权限）两端逐字一致</a:t>
            </a:r>
          </a:p>
        </p:txBody>
      </p:sp>
      <p:sp>
        <p:nvSpPr>
          <p:cNvPr id="9" name="灯片编号占位符 9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9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批量收敛：一份日志 → 一张清单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python -m policy_loop.converge  ·  本机实测 4.161 s</a:t>
            </a:r>
          </a:p>
        </p:txBody>
      </p:sp>
      <p:pic>
        <p:nvPicPr>
          <p:cNvPr id="4" name="Picture 3" descr="fig3-converg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7340"/>
            <a:ext cx="6858000" cy="3429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325880"/>
            <a:ext cx="40078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100" b="1">
                <a:solidFill>
                  <a:srgbClr val="0078B4"/>
                </a:solidFill>
                <a:latin typeface="微软雅黑"/>
                <a:ea typeface="微软雅黑"/>
              </a:rPr>
              <a:t>5,161 → 4,911  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日志行 → 唯一案例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2276856"/>
            <a:ext cx="40078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100" b="1">
                <a:solidFill>
                  <a:srgbClr val="8A93A3"/>
                </a:solidFill>
                <a:latin typeface="微软雅黑"/>
                <a:ea typeface="微软雅黑"/>
              </a:rPr>
              <a:t>3,261  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噪声 / 已被允许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3227832"/>
            <a:ext cx="40078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100" b="1">
                <a:solidFill>
                  <a:srgbClr val="3EA65B"/>
                </a:solidFill>
                <a:latin typeface="微软雅黑"/>
                <a:ea typeface="微软雅黑"/>
              </a:rPr>
              <a:t>70  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可自动出最小权限补丁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4178808"/>
            <a:ext cx="40078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100" b="1">
                <a:solidFill>
                  <a:srgbClr val="EE822F"/>
                </a:solidFill>
                <a:latin typeface="微软雅黑"/>
                <a:ea typeface="微软雅黑"/>
              </a:rPr>
              <a:t>1,580  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需人工决策（约 32%）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59552"/>
            <a:ext cx="11185855" cy="603504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微软雅黑"/>
                <a:ea typeface="微软雅黑"/>
              </a:rPr>
              <a:t>全量 5,161 条里零误报进入自动项：1,580 类「需人工」是工具主动拒绝越权的结果，不是它做不到</a:t>
            </a:r>
          </a:p>
        </p:txBody>
      </p:sp>
      <p:sp>
        <p:nvSpPr>
          <p:cNvPr id="10" name="灯片编号占位符 10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10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补丁最小化：69 行 → 54 条根因规则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同一 (src, tgt, cls) 的补丁行并成一条根因规则，再套回索引副本反验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0078B4"/>
                </a:solidFill>
                <a:latin typeface="微软雅黑"/>
                <a:ea typeface="微软雅黑"/>
              </a:rPr>
              <a:t>69 → 54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补丁行数（归并 10 组、省 15 行）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13716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0078B4"/>
                </a:solidFill>
                <a:latin typeface="微软雅黑"/>
                <a:ea typeface="微软雅黑"/>
              </a:rPr>
              <a:t>10 组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根因归并（26 条折叠进已有规则，25 条新增）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08776" y="13716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3EA65B"/>
                </a:solidFill>
                <a:latin typeface="微软雅黑"/>
                <a:ea typeface="微软雅黑"/>
              </a:rPr>
              <a:t>70 → 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闭环反验：补丁前未解决 → 套回后全部解决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1704" y="13716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3EA65B"/>
                </a:solidFill>
                <a:latin typeface="微软雅黑"/>
                <a:ea typeface="微软雅黑"/>
              </a:rPr>
              <a:t>0 残留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1,580 条人工案例的归因结果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63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F1423"/>
                </a:solidFill>
                <a:latin typeface="微软雅黑"/>
                <a:ea typeface="微软雅黑"/>
              </a:rPr>
              <a:t>闭环反验多证了什么：converge 只断言「补丁编译得过」且名字级匹配；minimize 要求「补丁前确实未解决、套回后全部解决」——缺了前半句，本来就允许的案例会被算成补丁的功劳。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24528"/>
            <a:ext cx="1118585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423"/>
                </a:solidFill>
                <a:latin typeface="微软雅黑"/>
                <a:ea typeface="微软雅黑"/>
              </a:rPr>
              <a:t>判定「最窄规则」必须按展开后的影响面，不能按 token 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474"/>
                </a:solidFill>
                <a:latin typeface="微软雅黑"/>
                <a:ea typeface="微软雅黑"/>
              </a:rPr>
              <a:t>{domain} 只占 1 个 token，却覆盖 235 个类型 —— 按 token 数会把最宽的规则判成最窄。</a:t>
            </a:r>
          </a:p>
        </p:txBody>
      </p:sp>
      <p:sp>
        <p:nvSpPr>
          <p:cNvPr id="11" name="灯片编号占位符 1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1,580 条「转人工」，真正要补权限的是 0 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attribution：对每一个拒绝自动放权的案例，答「该谁修」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8A93A3"/>
                </a:solidFill>
                <a:latin typeface="微软雅黑"/>
                <a:ea typeface="微软雅黑"/>
              </a:rPr>
              <a:t>1,147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语料的历史噪声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1371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078B4"/>
                </a:solidFill>
                <a:latin typeface="微软雅黑"/>
                <a:ea typeface="微软雅黑"/>
              </a:rPr>
              <a:t>342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工具侧要对齐的（索引 / 版本）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08776" y="1371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E822F"/>
                </a:solidFill>
                <a:latin typeface="微软雅黑"/>
                <a:ea typeface="微软雅黑"/>
              </a:rPr>
              <a:t>53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日志质量问题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1704" y="1371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54C5E"/>
                </a:solidFill>
                <a:latin typeface="微软雅黑"/>
                <a:ea typeface="微软雅黑"/>
              </a:rPr>
              <a:t>38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架构决策（撞 neverallow 红线）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80360"/>
            <a:ext cx="3840480" cy="201168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3EA65B"/>
                </a:solidFill>
                <a:latin typeface="微软雅黑"/>
                <a:ea typeface="微软雅黑"/>
              </a:rPr>
              <a:t>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4"/>
                </a:solidFill>
                <a:latin typeface="微软雅黑"/>
                <a:ea typeface="微软雅黑"/>
              </a:rPr>
              <a:t>owner = DEVICE：真正需要给设备补权限的条数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80360"/>
            <a:ext cx="702533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F1423"/>
                </a:solidFill>
                <a:latin typeface="微软雅黑"/>
                <a:ea typeface="微软雅黑"/>
              </a:rPr>
              <a:t>归因完备性：1,580 → 归因 1,580，残留 0（退出码 0 即判据）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5B6474"/>
                </a:solidFill>
                <a:latin typeface="微软雅黑"/>
                <a:ea typeface="微软雅黑"/>
              </a:rPr>
              <a:t>跨树稳定的是「DEVICE 档为 0」这个结论；原因码的数量随所选上游树变化——换成与设备对应版本的源码树，符号缺失会变多、版本差会变少。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B4"/>
                </a:solidFill>
                <a:latin typeface="微软雅黑"/>
                <a:ea typeface="微软雅黑"/>
              </a:rPr>
              <a:t>所以「需人工 1,580」不等于「还有 1,580 个洞」：它是工具主动拒绝越权的证据。</a:t>
            </a:r>
          </a:p>
        </p:txBody>
      </p:sp>
      <p:sp>
        <p:nvSpPr>
          <p:cNvPr id="12" name="灯片编号占位符 1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12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同一份判定，两个进程，逐字节相同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设备端是独立实现（C++ / musl），喂完全相同的输入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85853" cy="39502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0005"/>
                <a:gridCol w="1735736"/>
                <a:gridCol w="4371483"/>
                <a:gridCol w="4628629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门禁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做法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--selftest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内嵌固定向量，比对宿主生成并冻结的 digest 表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PASS：sha1 13 + converge 24 + explain 11 组，0 失败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--index-info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两端加载同一 PLI，比计数器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rules=21824 types=1267 attrs=49 skipped=524，与宿主一致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报告差分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同一份语料两端各出完整 JSON，比 sha256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逐字节相同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真机采样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真读本机 kmsg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suppressed≈107 非零，量化 printk 丢帧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查询差分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27,912 条查询，比整个输出体的 sha256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2,984,884 B 逐字节相同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5349240"/>
            <a:ext cx="11185855" cy="786384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四个真实存在的语义陷阱：空 perms 是通配而非空集 / xperm 命令大小写敏感 / permissive=2 是三态 / 通配命中时未知 perm 原样带上 —— 错一个哈希当场炸掉。</a:t>
            </a:r>
          </a:p>
        </p:txBody>
      </p:sp>
      <p:sp>
        <p:nvSpPr>
          <p:cNvPr id="13" name="灯片编号占位符 1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13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倒排索引：设备 34×，宿主 238×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按对象类线性扫描 → 类型对倒排索引（postings 由 clone 继承，每棵树只建一次）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6118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0078B4"/>
                </a:solidFill>
                <a:latin typeface="微软雅黑"/>
                <a:ea typeface="微软雅黑"/>
              </a:rPr>
              <a:t>34×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设备查询路径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0.0987 → 0.0029 ms/条（27,912 条查询）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325880"/>
            <a:ext cx="36118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0078B4"/>
                </a:solidFill>
                <a:latin typeface="微软雅黑"/>
                <a:ea typeface="微软雅黑"/>
              </a:rPr>
              <a:t>238×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宿主判定路径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8.842 s → 0.037 s（4,911 个唯一案例）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325880"/>
            <a:ext cx="36118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0078B4"/>
                </a:solidFill>
                <a:latin typeface="微软雅黑"/>
                <a:ea typeface="微软雅黑"/>
              </a:rPr>
              <a:t>151 → 1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索引建表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否则一次 converge 要重建 151 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8348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423"/>
                </a:solidFill>
                <a:latin typeface="微软雅黑"/>
                <a:ea typeface="微软雅黑"/>
              </a:rPr>
              <a:t>口径：两侧各用真实实现跑同一负载，输出逐字节相同。板端 71.25 s 是旧代码在 RK3568 上的实测；「约 2 s」是按 34× 的倍数外推而非测量，上板后须复测。</a:t>
            </a:r>
          </a:p>
        </p:txBody>
      </p:sp>
      <p:sp>
        <p:nvSpPr>
          <p:cNvPr id="14" name="灯片编号占位符 1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14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LLM 的默认行为是过宽，护栏把它按回最小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docs/eval-llm-guardrail.md 同批真实 denial 三档对照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85853" cy="2560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72573"/>
                <a:gridCol w="1677878"/>
                <a:gridCol w="3635402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方案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样本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过宽（越权加权限）率</a:t>
                      </a:r>
                    </a:p>
                  </a:txBody>
                  <a:tcPr marL="91440" marR="91440" marT="36576" marB="36576" anchor="ctr">
                    <a:solidFill>
                      <a:srgbClr val="0078B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未受约束的「AI 直接放权」（naive 档）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120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真实 LLM（明确最小权限指令，deepseek-v4-flash）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54 有效补丁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0%（54/54 通过评审）</a:t>
                      </a:r>
                    </a:p>
                  </a:txBody>
                  <a:tcPr marL="91440" marR="91440" marT="36576" marB="36576" anchor="ctr">
                    <a:solidFill>
                      <a:srgbClr val="F5FAF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PolicyLoop：最小权限指令 + 规则护栏 + 确定性精修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120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F1423"/>
                          </a:solidFill>
                          <a:latin typeface="微软雅黑"/>
                          <a:ea typeface="微软雅黑"/>
                        </a:rPr>
                        <a:t>0%（120/120 被拦截并精修回最小）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160520"/>
            <a:ext cx="11185855" cy="82296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越权倾向是 LLM 的默认行为，提示词消除不掉，只能靠确定性护栏兜住。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30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474"/>
                </a:solidFill>
                <a:latin typeface="微软雅黑"/>
                <a:ea typeface="微软雅黑"/>
              </a:rPr>
              <a:t>因此架构上把「生成候选」和「批准授权」拆成两个角色 —— 后者永远是规则，绝不用模型。</a:t>
            </a:r>
          </a:p>
        </p:txBody>
      </p:sp>
      <p:sp>
        <p:nvSpPr>
          <p:cNvPr id="15" name="灯片编号占位符 1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15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界面：如实区分数据来源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主机端 Agent Trace  ·  板端控制台实时卡片  ·  快照现读</a:t>
            </a:r>
          </a:p>
        </p:txBody>
      </p:sp>
      <p:pic>
        <p:nvPicPr>
          <p:cNvPr id="4" name="Picture 3" descr="fig5-agent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38" y="1188720"/>
            <a:ext cx="257596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523036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3A3"/>
                </a:solidFill>
                <a:latin typeface="微软雅黑"/>
                <a:ea typeface="微软雅黑"/>
              </a:rPr>
              <a:t>主机端 Web UI · Agent Trace</a:t>
            </a:r>
          </a:p>
        </p:txBody>
      </p:sp>
      <p:pic>
        <p:nvPicPr>
          <p:cNvPr id="6" name="Picture 5" descr="fig6-board-live-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3818" y="1188720"/>
            <a:ext cx="2419643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0" y="5230368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3A3"/>
                </a:solidFill>
                <a:latin typeface="微软雅黑"/>
                <a:ea typeface="微软雅黑"/>
              </a:rPr>
              <a:t>板端控制台 · 拨开关后的实时卡片</a:t>
            </a:r>
          </a:p>
        </p:txBody>
      </p:sp>
      <p:pic>
        <p:nvPicPr>
          <p:cNvPr id="8" name="Picture 7" descr="fig7-board-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7058" y="1188720"/>
            <a:ext cx="2419643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09560" y="5230368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3A3"/>
                </a:solidFill>
                <a:latin typeface="微软雅黑"/>
                <a:ea typeface="微软雅黑"/>
              </a:rPr>
              <a:t>板端控制台 · 载入当前快照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596128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工具造成的 denial 明确标注「工具造成」，不冒充分析结果；「累计案例」与「本次窗口行数」分开计数 —— 它们测的不是一回事。</a:t>
            </a:r>
          </a:p>
        </p:txBody>
      </p:sp>
      <p:sp>
        <p:nvSpPr>
          <p:cNvPr id="16" name="灯片编号占位符 1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16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真机：拨一次开关，1~2 秒出结论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RK3568  ·  OpenHarmony 5.0.3.135  ·  enforcing</a:t>
            </a:r>
          </a:p>
        </p:txBody>
      </p:sp>
      <p:pic>
        <p:nvPicPr>
          <p:cNvPr id="4" name="Picture 3" descr="fig4-board-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41297"/>
            <a:ext cx="7818120" cy="39090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261872"/>
            <a:ext cx="3184855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423"/>
                </a:solidFill>
                <a:latin typeface="微软雅黑"/>
                <a:ea typeface="微软雅黑"/>
              </a:rPr>
              <a:t>正规 init service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开机自启、自有 enforcing 域，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不需要 PC / su / begetctl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2596896"/>
            <a:ext cx="3184855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423"/>
                </a:solidFill>
                <a:latin typeface="微软雅黑"/>
                <a:ea typeface="微软雅黑"/>
              </a:rPr>
              <a:t>冷启动即采集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up 0 min 时服务已在域内采集，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本域 denial = 0 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3931920"/>
            <a:ext cx="3184855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423"/>
                </a:solidFill>
                <a:latin typeface="微软雅黑"/>
                <a:ea typeface="微软雅黑"/>
              </a:rPr>
              <a:t>端到端时延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两个 1 秒轮询叠加：拨开关 →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5B6474"/>
                </a:solidFill>
                <a:latin typeface="微软雅黑"/>
                <a:ea typeface="微软雅黑"/>
              </a:rPr>
              <a:t>采集 → 分析 → 横幅 + 系统通知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32120"/>
            <a:ext cx="11185855" cy="585216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部署依赖 PC ≠ 运行依赖 PC：采集路径上没有任何一环需要 PC</a:t>
            </a:r>
          </a:p>
        </p:txBody>
      </p:sp>
      <p:sp>
        <p:nvSpPr>
          <p:cNvPr id="17" name="灯片编号占位符 17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17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关键数字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每一个都能用附录 A 的命令复现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0078B4"/>
                </a:solidFill>
                <a:latin typeface="微软雅黑"/>
                <a:ea typeface="微软雅黑"/>
              </a:rPr>
              <a:t>21,824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条索引规则
1,267 类型 / 49 属性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0078B4"/>
                </a:solidFill>
                <a:latin typeface="微软雅黑"/>
                <a:ea typeface="微软雅黑"/>
              </a:rPr>
              <a:t>99.94%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索引召回率
（质检 + 占位解析）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0078B4"/>
                </a:solidFill>
                <a:latin typeface="微软雅黑"/>
                <a:ea typeface="微软雅黑"/>
              </a:rPr>
              <a:t>100%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补丁精确最小
179/179 · 过宽 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1188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0078B4"/>
                </a:solidFill>
                <a:latin typeface="微软雅黑"/>
                <a:ea typeface="微软雅黑"/>
              </a:rPr>
              <a:t>2.98 MB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两端查询输出
逐字节相同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61188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0078B4"/>
                </a:solidFill>
                <a:latin typeface="微软雅黑"/>
                <a:ea typeface="微软雅黑"/>
              </a:rPr>
              <a:t>34×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设备查询加速
宿主 238×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361188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0078B4"/>
                </a:solidFill>
                <a:latin typeface="微软雅黑"/>
                <a:ea typeface="微软雅黑"/>
              </a:rPr>
              <a:t>0 条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4"/>
                </a:solidFill>
                <a:latin typeface="微软雅黑"/>
                <a:ea typeface="微软雅黑"/>
              </a:rPr>
              <a:t>真正需要给设备
补权限（owner=DEVICE）</a:t>
            </a:r>
          </a:p>
        </p:txBody>
      </p:sp>
      <p:sp>
        <p:nvSpPr>
          <p:cNvPr id="18" name="灯片编号占位符 1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18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四个改变了设计的坑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每一个都推翻了动手前的假设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5349240" cy="17190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0F1423"/>
                </a:solidFill>
                <a:latin typeface="微软雅黑"/>
                <a:ea typeface="微软雅黑"/>
              </a:rPr>
              <a:t>1  neverallow 不在二进制策略里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4"/>
                </a:solidFill>
                <a:latin typeface="微软雅黑"/>
                <a:ea typeface="微软雅黑"/>
              </a:rPr>
              <a:t>「让设备自己反推全部策略语义」原理上不通 —— 从设想变成架构约束。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8192" y="1298448"/>
            <a:ext cx="5349240" cy="17190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0F1423"/>
                </a:solidFill>
                <a:latin typeface="微软雅黑"/>
                <a:ea typeface="微软雅黑"/>
              </a:rPr>
              <a:t>2  printk 限流会静默丢弃 denial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4"/>
                </a:solidFill>
                <a:latin typeface="微软雅黑"/>
                <a:ea typeface="微软雅黑"/>
              </a:rPr>
              <a:t>每 5 秒只放 10 条，超出直接丢，dmesg 与采集器一起失明。修法：init job 写 printk_ratelimit=0；验收改用 unique_cases。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82112"/>
            <a:ext cx="5349240" cy="17190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0F1423"/>
                </a:solidFill>
                <a:latin typeface="微软雅黑"/>
                <a:ea typeface="微软雅黑"/>
              </a:rPr>
              <a:t>3  init 的 caps 是整套替换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4"/>
                </a:solidFill>
                <a:latin typeface="微软雅黑"/>
                <a:ea typeface="微软雅黑"/>
              </a:rPr>
              <a:t>「只有 CAP_SYSLOG」连 uid 0 也失去 DAC_OVERRIDE，而 DAC 失败不出 AVC —— 判活用 wchan + fd，定根用 chmod 0777。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8192" y="3182112"/>
            <a:ext cx="5349240" cy="17190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0F1423"/>
                </a:solidFill>
                <a:latin typeface="微软雅黑"/>
                <a:ea typeface="微软雅黑"/>
              </a:rPr>
              <a:t>4  差分语料证明不了分支覆盖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4"/>
                </a:solidFill>
                <a:latin typeface="微软雅黑"/>
                <a:ea typeface="微软雅黑"/>
              </a:rPr>
              <a:t>4,911 簇真实语料没抓到的偏差，固定向量首跑就抓出 2 个 —— 最终取「固定向量 + 差分」两条腿。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8928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共同点：都是「看起来正常」的假象 —— 服务活着、日志干净、策略也对，缺陷藏在看不见的地方。</a:t>
            </a:r>
          </a:p>
        </p:txBody>
      </p:sp>
      <p:sp>
        <p:nvSpPr>
          <p:cNvPr id="19" name="灯片编号占位符 19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19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口径与边界：每个数字能证明什么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3A3"/>
                </a:solidFill>
                <a:latin typeface="微软雅黑"/>
                <a:ea typeface="微软雅黑"/>
              </a:rPr>
              <a:t>安全工具的可信度来自说清边界，而不是把数字说大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语料来自上游，不是本设备采集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5,230 条注释每一行都以 # 开头，96.8% 逐字来自上游 .te；说明的是工具在真实历史 denial 上的表现。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748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构造内自洽 ≠ 独立金标准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exact_min=100% 是「剔除规则 → 补回来」的自洽性验证；独立证据只有上游人工修复对照与真机回归。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外推值一律标注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板端 71.25 s → 约 2 s 是外推；「39% 比上游更窄」只在单条 denial 视角下成立。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0F1423"/>
                </a:solidFill>
                <a:latin typeface="微软雅黑"/>
                <a:ea typeface="微软雅黑"/>
              </a:rPr>
              <a:t>未做但已证伪的，写证伪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boolean / constrain / MLS 三类根因在本平台原理上无从发生，不列进「已检查项」。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B4"/>
                </a:solidFill>
                <a:latin typeface="微软雅黑"/>
                <a:ea typeface="微软雅黑"/>
              </a:rPr>
              <a:t>仍然存在的边界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索引须与目标策略树对齐（上游活树 21,824 ≠ 板端 HAP 内置 19,800）　·　红线两条防线各有洞　　板子 5.0.3.135 ≠ 编译树 6.1.0.31　·　printk 限流只减少不消除</a:t>
            </a:r>
          </a:p>
        </p:txBody>
      </p:sp>
      <p:sp>
        <p:nvSpPr>
          <p:cNvPr id="20" name="灯片编号占位符 20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20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不足与下一步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61188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078B4"/>
                </a:solidFill>
                <a:latin typeface="微软雅黑"/>
                <a:ea typeface="微软雅黑"/>
              </a:rPr>
              <a:t>交付前必补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300" b="0">
                <a:solidFill>
                  <a:srgbClr val="0F1423"/>
                </a:solidFill>
                <a:latin typeface="微软雅黑"/>
                <a:ea typeface="微软雅黑"/>
              </a:rPr>
              <a:t>--cross-layer 与 hap 计数器只有宿主侧结果，尚未在真机上跑过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300" b="0">
                <a:solidFill>
                  <a:srgbClr val="0F1423"/>
                </a:solidFill>
                <a:latin typeface="微软雅黑"/>
                <a:ea typeface="微软雅黑"/>
              </a:rPr>
              <a:t>板端控制台 HAP 不会开机自启，需要手动点一次图标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300" b="0">
                <a:solidFill>
                  <a:srgbClr val="0F1423"/>
                </a:solidFill>
                <a:latin typeface="微软雅黑"/>
                <a:ea typeface="微软雅黑"/>
              </a:rPr>
              <a:t>封面信息与截图占位由 docgate 的 placeholders 门禁盯着，到期未清即判红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417320"/>
            <a:ext cx="5562295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078B4"/>
                </a:solidFill>
                <a:latin typeface="微软雅黑"/>
                <a:ea typeface="微软雅黑"/>
              </a:rPr>
              <a:t>下一步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300" b="1">
                <a:solidFill>
                  <a:srgbClr val="0F1423"/>
                </a:solidFill>
                <a:latin typeface="微软雅黑"/>
                <a:ea typeface="微软雅黑"/>
              </a:rPr>
              <a:t>改走 audit netlink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　取无损通道，摆脱 printk 限流；现在只做到把限流关掉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300" b="1">
                <a:solidFill>
                  <a:srgbClr val="0F1423"/>
                </a:solidFill>
                <a:latin typeface="微软雅黑"/>
                <a:ea typeface="微软雅黑"/>
              </a:rPr>
              <a:t>索引降到与板子一致的 5.0.3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　量化版本漂移对召回率的影响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300" b="1">
                <a:solidFill>
                  <a:srgbClr val="0F1423"/>
                </a:solidFill>
                <a:latin typeface="微软雅黑"/>
                <a:ea typeface="微软雅黑"/>
              </a:rPr>
              <a:t>板内触发</a:t>
            </a:r>
            <a:r>
              <a:rPr sz="1200" b="0">
                <a:solidFill>
                  <a:srgbClr val="5B6474"/>
                </a:solidFill>
                <a:latin typeface="微软雅黑"/>
                <a:ea typeface="微软雅黑"/>
              </a:rPr>
              <a:t>　实时闭环目前只有「捕获」这一半不需要 PC</a:t>
            </a:r>
          </a:p>
        </p:txBody>
      </p:sp>
      <p:sp>
        <p:nvSpPr>
          <p:cNvPr id="21" name="灯片编号占位符 2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21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false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false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true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false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false"/>
          </a:effectLst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2026-09-21T14:20:13Z</dcterms:created>
  <dcterms:modified xsi:type="dcterms:W3CDTF">2026-09-21T14:20:13Z</dcterms:modified>
</cp:coreProperties>
</file>