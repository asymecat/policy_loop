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4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9B7804-5977-40F2-BF17-957E5E0BC3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开场（约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秒）：各位评委老师好，我们是【团队名称】。参赛作品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PolicyLoop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，解决的是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OpenHarmony SELinux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拒绝日志的诊断与最小权限修复问题。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9C908D-3002-438B-B2A7-F115B035A7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秒：汇报分三部分 —— 为什么要做、怎么做的、实测到了什么程度，以及我们主动划出的边界。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1C2A05-F6FB-47D0-A580-A9C80A0DD65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SELinux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是强制门禁，但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对开发者有三个卡点：读不懂、不知道在哪补、补不对。上游策略仓库自己的注释里就埋着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5,230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条历史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，全靠人力诊断。现实中的应对往往是把门禁关成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permissive ——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系统看起来正常了，门实际上没有了。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9D259D-16A3-49AB-99F9-BD1C89CF79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秒：我们不回答「这条访问要放行吗」，而是「该不该放行」。撞系统红线的一律拒绝自动放权；补丁要求精确最小；补完还要验证真的消除且没有回归。验收指标是可量化的四组。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971BE1-4F7C-4548-A116-329AD1D3C6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秒：系统按「能独立验证」分四层，主机端重、设备端轻，中间只有一条窄接口：构建期导出的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只读索引，以及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JSON/TSV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判定结果。同一份判定逻辑三次落地：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做对语义、评测证明它收敛、设备端做原生组件并差分证明等价。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D83C78-099C-47D6-8A0A-306322D3CB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秒：四条原则。最关键的是第一条：所有安全决策都是确定性规则，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不参与判定，只在配置了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时写人话解释。第二条：工具永不自动写盘。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41FF20-4BB2-4F5D-9942-A1A430E904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秒：这是最常被问的问题——为什么不把整个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PolicyLoop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搬到设备上？两个事实：设备上没有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.te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源码；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neverallow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是编译期断言，原理上不写进二进制策略。拿不到红线，工具就退化成「看到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就建议放权」。所以索引必须构建期导出、设备端只负责用语义。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729FBD-728B-4E84-9CCF-0179780E81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秒：一条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走七个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的单向链。两个刻意设计：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CrossLayerAgent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只读，加不加它结论不变；流水线不含回路，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失败直接归「需人工」——允许重试等于让它迭代出一个更宽的补丁。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4145FB-2BAB-4E20-B8C4-32D654B477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秒：五道拒绝点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六道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apply_guards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。右边这个真实例子最能说明问题：策略已经允许了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ioctl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大类，缺的只是一个命令号；「看到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就加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」会写一条已经存在的规则。我们给的是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allowxperm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575A9B-2C39-4269-B0B1-1921A4D58CF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秒：整份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5,161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条日志，去重后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4,911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个唯一案例，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秒出清单：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类可自动出最小补丁，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1,580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类需人工。这个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1,580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是工具主动拒绝越权的结果，不是它做不到。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212FC0-0CED-44D1-B6FD-2F2DCD50516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秒：补丁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69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行归并成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54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条根因规则。闭环反验多证了一件事：套回之前这些案例确实没被解决，否则本来就允许的案例会被算成补丁的功劳。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6C8AB0-8CBC-4196-8FD9-C016D99D05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1,580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条逐条归因「该谁修」，真正需要给设备补权限的是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条：大部分是语料的历史噪声，小部分是工具侧对齐和日志质量问题，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条是撞红线的架构决策。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704F6C-4B02-4427-9B0F-57CDED1782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秒：设备端是独立的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C++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实现，五项门禁证明两端同源。最有说服力的是第五项：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27,912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条查询、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2.98 MB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输出逐字节相同。空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xperm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大小写、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permissive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三态、未知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名，错一个哈希就炸。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3281CA-0D07-4417-8F94-FDB917C3FF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秒：原来的线性扫描换成类型对倒排索引，设备侧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34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倍、宿主侧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倍。请注意口径：板端的「约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秒」是按倍数外推，不是测量，上板后还要复测。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00A328-A0EC-4B75-B9AD-24B8105877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秒：这是我们的对照实验。未受约束的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直接放权，过宽率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100%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；同批样本经过确定性护栏，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。越权倾向是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的默认行为，提示词消除不掉，只能靠规则兜住。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8DE95A-6BE8-4705-B837-065BBF3DC6D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秒：两处界面。原则是如实区分数据来源：工具造成的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必须标注「工具造成」，「累计案例」和「本次窗口行数」分开计数。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8082AD-255C-4449-8218-E1B6D3CA59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秒：采集器是正规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 service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，开机自启、自有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enforcing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域。拨一次开关，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1~2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秒出结论。结论一句话：部署依赖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，运行不依赖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7A0913-4039-4FE0-AD8B-DEB0A672C71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秒：一页回顾六个关键数字，每一个都能用报告附录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的命令复现。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CC86A6-E6BF-49EC-9BF3-9EB62E4D280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秒：四个坑都改变过设计。共同点是「看起来正常」的假象：服务活着、日志干净、策略也对，缺陷在看不见的地方。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263231-BFEB-4B82-A4E1-C4428EF2E1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秒：安全工具的可信度来自说清边界。语料来自上游注释而不是设备采集；构造内自洽不等于独立金标准；外推值一律标注；未做但已证伪的写证伪。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4DB64D-9128-41CE-935E-006A3AD1B3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秒：交付前必补的三项和下一步方向。谢谢各位老师。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A3732B-BD7A-4BDD-9960-2670BC552E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3D1CAE-066A-448A-8443-EF958D4B2E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AA26FAD-6353-4BAB-96EE-434AB81D39F2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图片 7" descr="基金会+OH logo组合-03"/>
          <p:cNvPicPr/>
          <p:nvPr/>
        </p:nvPicPr>
        <p:blipFill>
          <a:blip r:embed="rId2"/>
          <a:stretch/>
        </p:blipFill>
        <p:spPr>
          <a:xfrm>
            <a:off x="473760" y="304200"/>
            <a:ext cx="3564360" cy="123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" name="组合 13"/>
          <p:cNvGrpSpPr/>
          <p:nvPr/>
        </p:nvGrpSpPr>
        <p:grpSpPr>
          <a:xfrm>
            <a:off x="9906480" y="6367320"/>
            <a:ext cx="2199240" cy="344520"/>
            <a:chOff x="9906480" y="6367320"/>
            <a:chExt cx="2199240" cy="344520"/>
          </a:xfrm>
        </p:grpSpPr>
        <p:sp>
          <p:nvSpPr>
            <p:cNvPr id="5" name="文本框 14"/>
            <p:cNvSpPr/>
            <p:nvPr/>
          </p:nvSpPr>
          <p:spPr>
            <a:xfrm>
              <a:off x="9906480" y="636732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6" name="直接连接符 15"/>
            <p:cNvCxnSpPr/>
            <p:nvPr/>
          </p:nvCxnSpPr>
          <p:spPr>
            <a:xfrm>
              <a:off x="11434320" y="6685200"/>
              <a:ext cx="538200" cy="360"/>
            </a:xfrm>
            <a:prstGeom prst="straightConnector1">
              <a:avLst/>
            </a:prstGeom>
            <a:ln w="19050">
              <a:solidFill>
                <a:srgbClr val="ffffff"/>
              </a:solidFill>
            </a:ln>
          </p:spPr>
        </p:cxn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F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/>
          <p:cNvPicPr/>
          <p:nvPr/>
        </p:nvPicPr>
        <p:blipFill>
          <a:blip r:embed="rId2">
            <a:alphaModFix amt="20000"/>
          </a:blip>
          <a:srcRect l="0" t="0" r="0" b="13215"/>
          <a:stretch/>
        </p:blipFill>
        <p:spPr>
          <a:xfrm>
            <a:off x="7545960" y="0"/>
            <a:ext cx="4151160" cy="5794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" name="组合 2"/>
          <p:cNvGrpSpPr/>
          <p:nvPr/>
        </p:nvGrpSpPr>
        <p:grpSpPr>
          <a:xfrm>
            <a:off x="9763200" y="6305760"/>
            <a:ext cx="2199240" cy="344520"/>
            <a:chOff x="9763200" y="6305760"/>
            <a:chExt cx="2199240" cy="344520"/>
          </a:xfrm>
        </p:grpSpPr>
        <p:sp>
          <p:nvSpPr>
            <p:cNvPr id="9" name="文本框 3"/>
            <p:cNvSpPr/>
            <p:nvPr/>
          </p:nvSpPr>
          <p:spPr>
            <a:xfrm>
              <a:off x="9763200" y="630576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rgbClr val="0284e2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" name="直接连接符 15"/>
            <p:cNvCxnSpPr/>
            <p:nvPr/>
          </p:nvCxnSpPr>
          <p:spPr>
            <a:xfrm>
              <a:off x="11290680" y="6623640"/>
              <a:ext cx="538200" cy="360"/>
            </a:xfrm>
            <a:prstGeom prst="straightConnector1">
              <a:avLst/>
            </a:prstGeom>
            <a:ln w="19050">
              <a:solidFill>
                <a:srgbClr val="00b0f0"/>
              </a:solidFill>
            </a:ln>
          </p:spPr>
        </p:cxnSp>
      </p:grpSp>
      <p:pic>
        <p:nvPicPr>
          <p:cNvPr id="11" name="图片 9"/>
          <p:cNvPicPr/>
          <p:nvPr/>
        </p:nvPicPr>
        <p:blipFill>
          <a:blip r:embed="rId3">
            <a:alphaModFix amt="21000"/>
          </a:blip>
          <a:stretch/>
        </p:blipFill>
        <p:spPr>
          <a:xfrm>
            <a:off x="0" y="3261240"/>
            <a:ext cx="2999160" cy="41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图片 4"/>
          <p:cNvPicPr/>
          <p:nvPr/>
        </p:nvPicPr>
        <p:blipFill>
          <a:blip r:embed="rId4"/>
          <a:stretch/>
        </p:blipFill>
        <p:spPr>
          <a:xfrm>
            <a:off x="48240" y="0"/>
            <a:ext cx="3482640" cy="130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3"/>
          <p:cNvGrpSpPr/>
          <p:nvPr/>
        </p:nvGrpSpPr>
        <p:grpSpPr>
          <a:xfrm>
            <a:off x="9763200" y="6305760"/>
            <a:ext cx="2199240" cy="344520"/>
            <a:chOff x="9763200" y="6305760"/>
            <a:chExt cx="2199240" cy="344520"/>
          </a:xfrm>
        </p:grpSpPr>
        <p:sp>
          <p:nvSpPr>
            <p:cNvPr id="20" name="文本框 14"/>
            <p:cNvSpPr/>
            <p:nvPr/>
          </p:nvSpPr>
          <p:spPr>
            <a:xfrm>
              <a:off x="9763200" y="630576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rgbClr val="0284e2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1" name="直接连接符 15"/>
            <p:cNvCxnSpPr/>
            <p:nvPr/>
          </p:nvCxnSpPr>
          <p:spPr>
            <a:xfrm>
              <a:off x="11290680" y="6623640"/>
              <a:ext cx="538200" cy="360"/>
            </a:xfrm>
            <a:prstGeom prst="straightConnector1">
              <a:avLst/>
            </a:prstGeom>
            <a:ln w="19050">
              <a:solidFill>
                <a:srgbClr val="00b0f0"/>
              </a:solidFill>
            </a:ln>
          </p:spPr>
        </p:cxnSp>
      </p:grpSp>
      <p:sp>
        <p:nvSpPr>
          <p:cNvPr id="22" name="PlaceHolder 1"/>
          <p:cNvSpPr>
            <a:spLocks noGrp="1"/>
          </p:cNvSpPr>
          <p:nvPr>
            <p:ph type="sldNum" idx="6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0F42A10-6BA3-4D65-B57E-C709F569A2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14920" y="171360"/>
            <a:ext cx="5965560" cy="44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单击此处编辑母版文本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" name="图片 1"/>
          <p:cNvPicPr/>
          <p:nvPr/>
        </p:nvPicPr>
        <p:blipFill>
          <a:blip r:embed="rId2"/>
          <a:stretch/>
        </p:blipFill>
        <p:spPr>
          <a:xfrm>
            <a:off x="9558360" y="0"/>
            <a:ext cx="2350080" cy="88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矩形 3"/>
          <p:cNvSpPr/>
          <p:nvPr/>
        </p:nvSpPr>
        <p:spPr>
          <a:xfrm>
            <a:off x="0" y="0"/>
            <a:ext cx="12191760" cy="780840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7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45677B8-F036-43E4-A9E5-B77C6CEB46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" name="图片 3"/>
          <p:cNvPicPr/>
          <p:nvPr/>
        </p:nvPicPr>
        <p:blipFill>
          <a:blip r:embed="rId2">
            <a:alphaModFix amt="35000"/>
          </a:blip>
          <a:srcRect l="0" t="32383" r="0" b="0"/>
          <a:stretch/>
        </p:blipFill>
        <p:spPr>
          <a:xfrm>
            <a:off x="7482960" y="1382040"/>
            <a:ext cx="3830040" cy="4165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" name="组合 5"/>
          <p:cNvGrpSpPr/>
          <p:nvPr/>
        </p:nvGrpSpPr>
        <p:grpSpPr>
          <a:xfrm>
            <a:off x="9763200" y="6305760"/>
            <a:ext cx="2199240" cy="344520"/>
            <a:chOff x="9763200" y="6305760"/>
            <a:chExt cx="2199240" cy="344520"/>
          </a:xfrm>
        </p:grpSpPr>
        <p:sp>
          <p:nvSpPr>
            <p:cNvPr id="30" name="文本框 10"/>
            <p:cNvSpPr/>
            <p:nvPr/>
          </p:nvSpPr>
          <p:spPr>
            <a:xfrm>
              <a:off x="9763200" y="630576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rgbClr val="0284e2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1" name="直接连接符 15"/>
            <p:cNvCxnSpPr/>
            <p:nvPr/>
          </p:nvCxnSpPr>
          <p:spPr>
            <a:xfrm>
              <a:off x="11290680" y="6623640"/>
              <a:ext cx="538200" cy="360"/>
            </a:xfrm>
            <a:prstGeom prst="straightConnector1">
              <a:avLst/>
            </a:prstGeom>
            <a:ln w="19050">
              <a:solidFill>
                <a:srgbClr val="00b0f0"/>
              </a:solidFill>
            </a:ln>
          </p:spPr>
        </p:cxnSp>
      </p:grpSp>
      <p:pic>
        <p:nvPicPr>
          <p:cNvPr id="32" name="图片 4"/>
          <p:cNvPicPr/>
          <p:nvPr/>
        </p:nvPicPr>
        <p:blipFill>
          <a:blip r:embed="rId3"/>
          <a:stretch/>
        </p:blipFill>
        <p:spPr>
          <a:xfrm>
            <a:off x="104400" y="0"/>
            <a:ext cx="2350080" cy="8809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8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12EF1D7-075E-41AF-8D56-07BDF87E98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4" name="组合 1"/>
          <p:cNvGrpSpPr/>
          <p:nvPr/>
        </p:nvGrpSpPr>
        <p:grpSpPr>
          <a:xfrm>
            <a:off x="9763200" y="6305760"/>
            <a:ext cx="2199240" cy="344520"/>
            <a:chOff x="9763200" y="6305760"/>
            <a:chExt cx="2199240" cy="344520"/>
          </a:xfrm>
        </p:grpSpPr>
        <p:sp>
          <p:nvSpPr>
            <p:cNvPr id="35" name="文本框 2"/>
            <p:cNvSpPr/>
            <p:nvPr/>
          </p:nvSpPr>
          <p:spPr>
            <a:xfrm>
              <a:off x="9763200" y="630576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rgbClr val="0284e2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6" name="直接连接符 15"/>
            <p:cNvCxnSpPr/>
            <p:nvPr/>
          </p:nvCxnSpPr>
          <p:spPr>
            <a:xfrm>
              <a:off x="11290680" y="6623640"/>
              <a:ext cx="538200" cy="360"/>
            </a:xfrm>
            <a:prstGeom prst="straightConnector1">
              <a:avLst/>
            </a:prstGeom>
            <a:ln w="19050">
              <a:solidFill>
                <a:srgbClr val="00b0f0"/>
              </a:solidFill>
            </a:ln>
          </p:spPr>
        </p:cxnSp>
      </p:grpSp>
      <p:sp>
        <p:nvSpPr>
          <p:cNvPr id="37" name="矩形 9"/>
          <p:cNvSpPr/>
          <p:nvPr/>
        </p:nvSpPr>
        <p:spPr>
          <a:xfrm>
            <a:off x="456480" y="1199520"/>
            <a:ext cx="12103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CN" sz="40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目录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文本框 10"/>
          <p:cNvSpPr/>
          <p:nvPr/>
        </p:nvSpPr>
        <p:spPr>
          <a:xfrm>
            <a:off x="482040" y="576720"/>
            <a:ext cx="4124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CONTENTS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9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A2D0785-40B8-4400-89F3-872DCDFDB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2" name="组合 5"/>
          <p:cNvGrpSpPr/>
          <p:nvPr/>
        </p:nvGrpSpPr>
        <p:grpSpPr>
          <a:xfrm>
            <a:off x="9906480" y="6367320"/>
            <a:ext cx="2199240" cy="344520"/>
            <a:chOff x="9906480" y="6367320"/>
            <a:chExt cx="2199240" cy="344520"/>
          </a:xfrm>
        </p:grpSpPr>
        <p:sp>
          <p:nvSpPr>
            <p:cNvPr id="43" name="文本框 6"/>
            <p:cNvSpPr/>
            <p:nvPr/>
          </p:nvSpPr>
          <p:spPr>
            <a:xfrm>
              <a:off x="9906480" y="6367320"/>
              <a:ext cx="2199240" cy="34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30000"/>
                </a:lnSpc>
              </a:pPr>
              <a:r>
                <a:rPr lang="zh-CN" sz="1400" b="0" u="none" strike="noStrike">
                  <a:solidFill>
                    <a:srgbClr val="0284e2"/>
                  </a:solidFill>
                  <a:effectLst/>
                  <a:uFillTx/>
                  <a:latin typeface="微软雅黑"/>
                  <a:ea typeface="微软雅黑"/>
                </a:rPr>
                <a:t>智能终端操作系统根社区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4" name="直接连接符 7"/>
            <p:cNvCxnSpPr/>
            <p:nvPr/>
          </p:nvCxnSpPr>
          <p:spPr>
            <a:xfrm>
              <a:off x="11434320" y="6685200"/>
              <a:ext cx="538200" cy="360"/>
            </a:xfrm>
            <a:prstGeom prst="straightConnector1">
              <a:avLst/>
            </a:prstGeom>
            <a:ln w="19050">
              <a:solidFill>
                <a:srgbClr val="00b0f0"/>
              </a:solidFill>
            </a:ln>
          </p:spPr>
        </p:cxnSp>
      </p:grp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2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7ED48FC-B521-4419-A7AE-CD4D9B2C4B7B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B173A4D-71D9-481E-8144-129D98A59964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标题幻灯片">
    <p:bg>
      <p:bgPr>
        <a:noFill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Num" idx="4"/>
          </p:nvPr>
        </p:nvSpPr>
        <p:spPr>
          <a:xfrm>
            <a:off x="44496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B29CF65-4932-449A-B68D-1EDAF7D6C2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08a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5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DF1F3AE-FED5-424E-B311-A8F213A71935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0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D765CEC-BF41-47BC-ABA0-BE46F93B7870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gradFill rotWithShape="0">
          <a:gsLst>
            <a:gs pos="0">
              <a:srgbClr val="00a6f9"/>
            </a:gs>
            <a:gs pos="100000">
              <a:srgbClr val="81bd0a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1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F6B317F-655B-4EC8-B9B2-9D3DF499D761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4"/>
          <p:cNvSpPr/>
          <p:nvPr/>
        </p:nvSpPr>
        <p:spPr>
          <a:xfrm>
            <a:off x="3417840" y="5226840"/>
            <a:ext cx="535572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3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PolicyLoop </a:t>
            </a:r>
            <a:r>
              <a:rPr lang="zh-CN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团队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2026</a:t>
            </a:r>
            <a:r>
              <a:rPr lang="zh-CN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年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10</a:t>
            </a:r>
            <a:r>
              <a:rPr lang="zh-CN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月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18</a:t>
            </a:r>
            <a:r>
              <a:rPr lang="zh-CN" sz="16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文本框 6"/>
          <p:cNvSpPr/>
          <p:nvPr/>
        </p:nvSpPr>
        <p:spPr>
          <a:xfrm>
            <a:off x="869760" y="1707120"/>
            <a:ext cx="108302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2026</a:t>
            </a:r>
            <a:r>
              <a:rPr lang="zh-CN" sz="48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开源鸿蒙大学生创新大赛</a:t>
            </a:r>
            <a:r>
              <a:rPr lang="en-US" sz="48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-</a:t>
            </a:r>
            <a:r>
              <a:rPr lang="zh-CN" sz="4800" b="1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赛道一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文本框 10"/>
          <p:cNvSpPr/>
          <p:nvPr/>
        </p:nvSpPr>
        <p:spPr>
          <a:xfrm>
            <a:off x="3232080" y="2868120"/>
            <a:ext cx="57272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PolicyLoop</a:t>
            </a:r>
            <a:r>
              <a:rPr lang="zh-CN" sz="2800" b="0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：</a:t>
            </a:r>
            <a:r>
              <a:rPr lang="en-US" sz="2800" b="0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SELinux </a:t>
            </a:r>
            <a:r>
              <a:rPr lang="zh-CN" sz="2800" b="0" u="none" strike="noStrike">
                <a:solidFill>
                  <a:srgbClr val="08a8f6"/>
                </a:solidFill>
                <a:effectLst/>
                <a:uFillTx/>
                <a:latin typeface="微软雅黑"/>
                <a:ea typeface="微软雅黑"/>
              </a:rPr>
              <a:t>拒绝日志的最小权限自收敛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26"/>
          <p:cNvSpPr/>
          <p:nvPr/>
        </p:nvSpPr>
        <p:spPr>
          <a:xfrm>
            <a:off x="2742120" y="2138040"/>
            <a:ext cx="71352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圆角矩形 27"/>
          <p:cNvSpPr/>
          <p:nvPr/>
        </p:nvSpPr>
        <p:spPr>
          <a:xfrm>
            <a:off x="3585240" y="3076200"/>
            <a:ext cx="685476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36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CN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设计与实现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圆角矩形 28"/>
          <p:cNvSpPr/>
          <p:nvPr/>
        </p:nvSpPr>
        <p:spPr>
          <a:xfrm>
            <a:off x="2734200" y="3063240"/>
            <a:ext cx="71352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圆角矩形 29"/>
          <p:cNvSpPr/>
          <p:nvPr/>
        </p:nvSpPr>
        <p:spPr>
          <a:xfrm>
            <a:off x="3585240" y="4001400"/>
            <a:ext cx="685476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36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CN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实测与边界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圆角矩形 30"/>
          <p:cNvSpPr/>
          <p:nvPr/>
        </p:nvSpPr>
        <p:spPr>
          <a:xfrm>
            <a:off x="2734200" y="3988440"/>
            <a:ext cx="71352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圆角矩形 44"/>
          <p:cNvSpPr/>
          <p:nvPr/>
        </p:nvSpPr>
        <p:spPr>
          <a:xfrm>
            <a:off x="3597840" y="2138040"/>
            <a:ext cx="6854760" cy="713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36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CN" sz="2400" b="1" u="none" strike="noStrike">
                <a:solidFill>
                  <a:schemeClr val="dk2"/>
                </a:solidFill>
                <a:effectLst/>
                <a:uFillTx/>
                <a:latin typeface="微软雅黑"/>
                <a:ea typeface="微软雅黑"/>
              </a:rPr>
              <a:t>问题与目标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15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BDAB0C0-E3BD-40FA-B368-5AEEA5CF75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Rounded Rectangle 12"/>
          <p:cNvSpPr/>
          <p:nvPr/>
        </p:nvSpPr>
        <p:spPr>
          <a:xfrm>
            <a:off x="3611880" y="4983480"/>
            <a:ext cx="6903360" cy="60300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一条 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denial  → 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七个 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Agent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单向诊断  →  最小权限补丁  →  真机闭环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一条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denial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，卡住三件事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Rounded Rectangle 2"/>
          <p:cNvSpPr/>
          <p:nvPr/>
        </p:nvSpPr>
        <p:spPr>
          <a:xfrm>
            <a:off x="502920" y="1325880"/>
            <a:ext cx="3611520" cy="196560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1001"/>
              </a:spcAft>
            </a:pPr>
            <a:r>
              <a:rPr lang="zh-CN" sz="19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读不懂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scontext / tcontext / tclass /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权限位自成一套词汇；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现场通常只看到「功能失败」，看不到「为什么」。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3"/>
          <p:cNvSpPr/>
          <p:nvPr/>
        </p:nvSpPr>
        <p:spPr>
          <a:xfrm>
            <a:off x="4316040" y="1325880"/>
            <a:ext cx="3611520" cy="196560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1001"/>
              </a:spcAft>
            </a:pPr>
            <a:r>
              <a:rPr lang="zh-CN" sz="19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不知道在哪补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规则散在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1,315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.te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文件里，按子系统分目录；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一条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该落在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system/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还是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vendor/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，靠经验。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4"/>
          <p:cNvSpPr/>
          <p:nvPr/>
        </p:nvSpPr>
        <p:spPr>
          <a:xfrm>
            <a:off x="8129160" y="1325880"/>
            <a:ext cx="3611520" cy="196560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1001"/>
              </a:spcAft>
            </a:pPr>
            <a:r>
              <a:rPr lang="zh-CN" sz="19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补不对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最省事的做法是「看到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就加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allow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」——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把一次越权尝试固化成永久授权。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5"/>
          <p:cNvSpPr/>
          <p:nvPr/>
        </p:nvSpPr>
        <p:spPr>
          <a:xfrm>
            <a:off x="502920" y="3547800"/>
            <a:ext cx="11185560" cy="65808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现实中的应对：把门禁关成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permissive ——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系统看起来正常了，实际处于无强制拦截状态。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502920" y="4370760"/>
            <a:ext cx="1118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zh-CN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上游策略仓库一次全量统计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7"/>
          <p:cNvSpPr/>
          <p:nvPr/>
        </p:nvSpPr>
        <p:spPr>
          <a:xfrm>
            <a:off x="502920" y="4736520"/>
            <a:ext cx="2605680" cy="105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1,315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.te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策略文件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8"/>
          <p:cNvSpPr/>
          <p:nvPr/>
        </p:nvSpPr>
        <p:spPr>
          <a:xfrm>
            <a:off x="3282840" y="4736520"/>
            <a:ext cx="2605680" cy="105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51,427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行策略源码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9"/>
          <p:cNvSpPr/>
          <p:nvPr/>
        </p:nvSpPr>
        <p:spPr>
          <a:xfrm>
            <a:off x="6062400" y="4736520"/>
            <a:ext cx="2605680" cy="105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5,230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条历史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注释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0"/>
          <p:cNvSpPr/>
          <p:nvPr/>
        </p:nvSpPr>
        <p:spPr>
          <a:xfrm>
            <a:off x="8842320" y="4736520"/>
            <a:ext cx="2605680" cy="105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21,824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条索引出的规则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16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1353EB2-5D78-4932-A7B5-1FBBA84681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从「放行」到「该不该放行」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同一件事的更严格版本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502920" y="1389960"/>
          <a:ext cx="11185560" cy="3949920"/>
        </p:xfrm>
        <a:graphic>
          <a:graphicData uri="http://schemas.openxmlformats.org/drawingml/2006/table">
            <a:tbl>
              <a:tblPr/>
              <a:tblGrid>
                <a:gridCol w="3924720"/>
                <a:gridCol w="7260840"/>
              </a:tblGrid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常见做法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本作品的目标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这条访问要放行吗？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这条访问该不该放行？撞系统红线的一律拒绝自动放权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加哪条规则？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最小的那条是什么？多一个权限位都算失败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加完就行了吗？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denial </a:t>
                      </a: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消失了吗？有没有引入新的越权？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一条一条看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整份日志一次收敛成可执行清单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拿不准的就写「转人工」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转人工之后逐条归因「该谁修」—— 实测真正要打补丁的只有 </a:t>
                      </a:r>
                      <a:r>
                        <a:rPr lang="en-US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 </a:t>
                      </a:r>
                      <a:r>
                        <a:rPr lang="zh-CN" sz="14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条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Rounded Rectangle 4"/>
          <p:cNvSpPr/>
          <p:nvPr/>
        </p:nvSpPr>
        <p:spPr>
          <a:xfrm>
            <a:off x="502920" y="5504760"/>
            <a:ext cx="11185560" cy="60300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验收可量化：策略覆盖率 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补丁最小性 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零越权（撞 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neverallow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一律拒绝）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真机端到端一致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17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0B58B80-8ADE-4489-8239-0B58A55BD7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总体架构：主机端重、设备端轻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LAYERED  ·  L1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确定性内核 →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L2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评测基线 →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L3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诊断流水线 →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L4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设备端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3" descr="fig1-architecture.png"/>
          <p:cNvPicPr/>
          <p:nvPr/>
        </p:nvPicPr>
        <p:blipFill>
          <a:blip r:embed="rId1"/>
          <a:stretch/>
        </p:blipFill>
        <p:spPr>
          <a:xfrm>
            <a:off x="2410920" y="1234440"/>
            <a:ext cx="736956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ounded Rectangle 4"/>
          <p:cNvSpPr/>
          <p:nvPr/>
        </p:nvSpPr>
        <p:spPr>
          <a:xfrm>
            <a:off x="502920" y="5559480"/>
            <a:ext cx="11185560" cy="60300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两侧之间只有一条窄接口：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PLI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只读索引（构建期导出、随镜像下发）</a:t>
            </a:r>
            <a:r>
              <a:rPr lang="en-US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+ JSON / TSV </a:t>
            </a:r>
            <a:r>
              <a:rPr lang="zh-CN" sz="15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判定结果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18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708E0E4-52CF-48E0-BE62-8FD4EAB5CA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四条设计原则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模块划分与流程设计都是它们的展开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3"/>
          <p:cNvSpPr/>
          <p:nvPr/>
        </p:nvSpPr>
        <p:spPr>
          <a:xfrm>
            <a:off x="502920" y="1325880"/>
            <a:ext cx="5348880" cy="214848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en-US" sz="17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① 确定性内核优先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解析、索引、根因、补丁、评审、验证全部是纯规则、纯标准库；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LLM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只在配置了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key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时写「人话解释」，不参与任何安全决策。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落地：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policy_loop/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零第三方依赖；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LLM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可插拔、默认关闭。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108120" y="1325880"/>
            <a:ext cx="5348880" cy="214848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en-US" sz="17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② 绝不自动写盘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只产出「建议补丁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+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落点提示」；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是否写入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.te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、是否重建策略、是否上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enforcing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，由人决定。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落地：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apply_converge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只出建议，写盘与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enforcing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需显式操作。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502920" y="3657600"/>
            <a:ext cx="5348880" cy="214848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en-US" sz="17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③ 先仿真、后真机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先用上游真实语料做数据仿真与量化评测（成本低、可反复），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再上真机取独立证据。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落地：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L1–L3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跑上游语料，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L4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在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RK3568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上取独立证据。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6"/>
          <p:cNvSpPr/>
          <p:nvPr/>
        </p:nvSpPr>
        <p:spPr>
          <a:xfrm>
            <a:off x="6108120" y="3657600"/>
            <a:ext cx="5348880" cy="214848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en-US" sz="17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④ 设备端只搬「属于设备的那一段」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需要读内核日志、需要脱离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PC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运行的才下沉；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多智能体编排与评测工具留在主机。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落地：设备端只有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PLI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索引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+ pl_collector + denial_check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19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F4F3196-48E9-4827-94DC-8623B29C4C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为什么设备端只搬「属于设备的那一段」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一个被实测逼出来的架构约束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>
            <a:off x="502920" y="1325880"/>
            <a:ext cx="5486040" cy="196560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zh-CN" sz="17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设备上没有策略源码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find /system /vendor -name "*.te"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为空；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SELinux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的全部家当只有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config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编译后的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policy.31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（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424,699 B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）与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*_contexts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⇒ 设备端只能「用」语义，不能「建」语义。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4"/>
          <p:cNvSpPr/>
          <p:nvPr/>
        </p:nvSpPr>
        <p:spPr>
          <a:xfrm>
            <a:off x="502920" y="3474720"/>
            <a:ext cx="5486040" cy="196560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901"/>
              </a:spcAft>
            </a:pPr>
            <a:r>
              <a:rPr lang="en-US" sz="17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neverallow </a:t>
            </a:r>
            <a:r>
              <a:rPr lang="zh-CN" sz="17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不在二进制策略里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它是编译期断言：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libsepol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的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expand.c:2736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写明不写进产出的策略。设备上拿不到红线。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1001"/>
              </a:spcBef>
            </a:pPr>
            <a:r>
              <a:rPr lang="en-US" sz="12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⇒ 红线判断只能留在宿主侧。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5"/>
          <p:cNvSpPr/>
          <p:nvPr/>
        </p:nvSpPr>
        <p:spPr>
          <a:xfrm>
            <a:off x="6263640" y="1325880"/>
            <a:ext cx="542484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defTabSz="914400">
              <a:lnSpc>
                <a:spcPct val="115000"/>
              </a:lnSpc>
            </a:pPr>
            <a:r>
              <a:rPr lang="zh-CN" sz="14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拿不到红线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6"/>
          <p:cNvSpPr/>
          <p:nvPr/>
        </p:nvSpPr>
        <p:spPr>
          <a:xfrm>
            <a:off x="6263640" y="2148840"/>
            <a:ext cx="542484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defTabSz="914400">
              <a:lnSpc>
                <a:spcPct val="115000"/>
              </a:lnSpc>
            </a:pPr>
            <a:r>
              <a:rPr lang="en-US" sz="14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→ 工具退化成「看到 </a:t>
            </a:r>
            <a:r>
              <a:rPr lang="en-US" sz="14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4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就建议放权」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7"/>
          <p:cNvSpPr/>
          <p:nvPr/>
        </p:nvSpPr>
        <p:spPr>
          <a:xfrm>
            <a:off x="6263640" y="2971800"/>
            <a:ext cx="542484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defTabSz="914400">
              <a:lnSpc>
                <a:spcPct val="115000"/>
              </a:lnSpc>
            </a:pPr>
            <a:r>
              <a:rPr lang="en-US" sz="14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→ 正是它最该避免的行为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8"/>
          <p:cNvSpPr/>
          <p:nvPr/>
        </p:nvSpPr>
        <p:spPr>
          <a:xfrm>
            <a:off x="6263640" y="3794760"/>
            <a:ext cx="542484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defTabSz="914400">
              <a:lnSpc>
                <a:spcPct val="115000"/>
              </a:lnSpc>
            </a:pP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→ 结论：索引必须构建期导出、随镜像下发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9"/>
          <p:cNvSpPr/>
          <p:nvPr/>
        </p:nvSpPr>
        <p:spPr>
          <a:xfrm>
            <a:off x="6263640" y="4617720"/>
            <a:ext cx="542484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defTabSz="914400">
              <a:lnSpc>
                <a:spcPct val="115000"/>
              </a:lnSpc>
            </a:pPr>
            <a:r>
              <a:rPr lang="en-US" sz="145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→ 设备端用语义，不构建语义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0"/>
          <p:cNvSpPr/>
          <p:nvPr/>
        </p:nvSpPr>
        <p:spPr>
          <a:xfrm>
            <a:off x="502920" y="5504760"/>
            <a:ext cx="11185560" cy="62136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上游 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570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条红线，索引看得见 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430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条（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419 neverallow + 11 neverallowxperm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）；可见性缺口由部署期 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secilc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断言补第二道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20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2E572E2-188B-490A-BF72-F59998059C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七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Agent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诊断流水线：一条单向链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Orchestrator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是严格状态机，每步输入输出都是可打印的结构化字段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3" descr="fig2-agent-pipeline.png"/>
          <p:cNvPicPr/>
          <p:nvPr/>
        </p:nvPicPr>
        <p:blipFill>
          <a:blip r:embed="rId1"/>
          <a:stretch/>
        </p:blipFill>
        <p:spPr>
          <a:xfrm>
            <a:off x="1742760" y="1188720"/>
            <a:ext cx="870588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4"/>
          <p:cNvSpPr/>
          <p:nvPr/>
        </p:nvSpPr>
        <p:spPr>
          <a:xfrm>
            <a:off x="502920" y="5230440"/>
            <a:ext cx="1118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两个刻意的设计：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lang="en-US" sz="14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CrossLayerAgent </a:t>
            </a:r>
            <a:r>
              <a:rPr lang="zh-CN" sz="14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只读</a:t>
            </a:r>
            <a:r>
              <a:rPr lang="zh-CN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（只出跨层建议，加不加它结论都不变）；</a:t>
            </a:r>
            <a:r>
              <a:rPr lang="zh-CN" sz="14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流水线不含回路</a:t>
            </a:r>
            <a:r>
              <a:rPr lang="en-US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——</a:t>
            </a:r>
            <a:r>
              <a:rPr lang="en-US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Verify </a:t>
            </a:r>
            <a:r>
              <a:rPr lang="zh-CN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失败或 </a:t>
            </a:r>
            <a:r>
              <a:rPr lang="en-US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Reviewer </a:t>
            </a:r>
            <a:r>
              <a:rPr lang="zh-CN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否决即归「需人工」，不回 </a:t>
            </a:r>
            <a:r>
              <a:rPr lang="en-US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Repair </a:t>
            </a:r>
            <a:r>
              <a:rPr lang="zh-CN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重算，否则等于迭代出一个更宽的补丁。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21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607170C-292E-4B36-AD24-A815D170F6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守门：不猜、不宽、不放行红线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五道拒绝点（流水线）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+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六道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apply_guards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（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converge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与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--explain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共用同一份实现）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02920" y="1325880"/>
            <a:ext cx="557748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1 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撞 </a:t>
            </a:r>
            <a:r>
              <a:rPr lang="en-US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neverallow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直接转人工，拒绝自动放权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301"/>
              </a:spcBef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2 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解析出的目标仍不许访问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拒发补丁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301"/>
              </a:spcBef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3 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占位符目标未解析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转人工，不猜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301"/>
              </a:spcBef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4 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补丁须过 </a:t>
            </a:r>
            <a:r>
              <a:rPr lang="en-US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Reviewer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评审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过宽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危险模式拦截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301"/>
              </a:spcBef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5 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补丁须在索引副本上 </a:t>
            </a:r>
            <a:r>
              <a:rPr lang="en-US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Verify </a:t>
            </a:r>
            <a:r>
              <a:rPr lang="zh-CN" sz="15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成功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必须真消除且无回归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502920" y="4160520"/>
            <a:ext cx="5577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五道各自堵一类失败：红线 </a:t>
            </a:r>
            <a:r>
              <a:rPr lang="en-US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越权 </a:t>
            </a:r>
            <a:r>
              <a:rPr lang="en-US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未知符号 </a:t>
            </a:r>
            <a:r>
              <a:rPr lang="en-US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过宽 </a:t>
            </a:r>
            <a:r>
              <a:rPr lang="en-US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3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未验证。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6355080" y="1298520"/>
            <a:ext cx="5333400" cy="397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lang="zh-CN" sz="16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典型反例：只差一个命令号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001"/>
              </a:spcBef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render_service → dev_mali:chr_file ioctl 0x8014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400"/>
              </a:spcBef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策略已允许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ioctl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大类，缺的只是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allowxperm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白名单里的一个命令号。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Aft>
                <a:spcPts val="1001"/>
              </a:spcAft>
            </a:pPr>
            <a:r>
              <a:rPr lang="zh-CN" sz="13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「看到 </a:t>
            </a:r>
            <a:r>
              <a:rPr lang="en-US" sz="13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3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就加 </a:t>
            </a:r>
            <a:r>
              <a:rPr lang="en-US" sz="13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allow</a:t>
            </a:r>
            <a:r>
              <a:rPr lang="zh-CN" sz="1350" b="0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」会写一条已经存在的规则 —— 写了等于没写。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spcAft>
                <a:spcPts val="400"/>
              </a:spcAft>
            </a:pPr>
            <a:r>
              <a:rPr lang="zh-CN" sz="13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本作品给出：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</a:pPr>
            <a:r>
              <a:rPr lang="en-US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allowxperm render_service dev_mali:chr_file ioctl { 0x8014 };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799"/>
              </a:spcBef>
            </a:pPr>
            <a:r>
              <a:rPr lang="zh-CN" sz="120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上游后来真的加上了这一行 —— 说明它不是过度授权。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6"/>
          <p:cNvSpPr/>
          <p:nvPr/>
        </p:nvSpPr>
        <p:spPr>
          <a:xfrm>
            <a:off x="502920" y="5504760"/>
            <a:ext cx="11185560" cy="62136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apply_guards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的六个分支（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MLS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级目标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占位符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主体目标不在语料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对象类不在语料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非权限名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空权限）两端逐字一致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2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86E8620-9BD5-46C2-8CBE-FCC4E49365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批量收敛：一份日志 → 一张清单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python -m policy_loop.converge  · 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本机实测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4.161 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3" descr="fig3-converge-flow.png"/>
          <p:cNvPicPr/>
          <p:nvPr/>
        </p:nvPicPr>
        <p:blipFill>
          <a:blip r:embed="rId1"/>
          <a:stretch/>
        </p:blipFill>
        <p:spPr>
          <a:xfrm>
            <a:off x="502920" y="1577520"/>
            <a:ext cx="685764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ounded Rectangle 4"/>
          <p:cNvSpPr/>
          <p:nvPr/>
        </p:nvSpPr>
        <p:spPr>
          <a:xfrm>
            <a:off x="7680960" y="1325880"/>
            <a:ext cx="4007520" cy="84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10000"/>
              </a:lnSpc>
            </a:pPr>
            <a:r>
              <a:rPr lang="en-US" sz="21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5,161 → 4,911 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日志行 → 唯一案例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7680960" y="2277000"/>
            <a:ext cx="4007520" cy="84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10000"/>
              </a:lnSpc>
            </a:pPr>
            <a:r>
              <a:rPr lang="en-US" sz="2100" b="1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3,261 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噪声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已被允许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7680960" y="3227760"/>
            <a:ext cx="4007520" cy="84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10000"/>
              </a:lnSpc>
            </a:pPr>
            <a:r>
              <a:rPr lang="en-US" sz="210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70 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可自动出最小权限补丁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7680960" y="4178880"/>
            <a:ext cx="4007520" cy="840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10000"/>
              </a:lnSpc>
            </a:pPr>
            <a:r>
              <a:rPr lang="en-US" sz="2100" b="1" u="none" strike="noStrike">
                <a:solidFill>
                  <a:srgbClr val="ee822f"/>
                </a:solidFill>
                <a:effectLst/>
                <a:uFillTx/>
                <a:latin typeface="微软雅黑"/>
                <a:ea typeface="微软雅黑"/>
              </a:rPr>
              <a:t>1,580 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需人工决策（约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32%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502920" y="5559480"/>
            <a:ext cx="11185560" cy="60300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全量 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5,161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条里零误报进入自动项：</a:t>
            </a: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1,580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类「需人工」是工具主动拒绝越权的结果，不是它做不到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23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15ACEC7-7954-4409-B250-5E489E2123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补丁最小化：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69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行 →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54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条根因规则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同一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(src, tgt, cls)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的补丁行并成一条根因规则，再套回索引副本反验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3"/>
          <p:cNvSpPr/>
          <p:nvPr/>
        </p:nvSpPr>
        <p:spPr>
          <a:xfrm>
            <a:off x="502920" y="1371600"/>
            <a:ext cx="2697120" cy="141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69 → 54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补丁行数（归并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10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组、省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15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行）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4"/>
          <p:cNvSpPr/>
          <p:nvPr/>
        </p:nvSpPr>
        <p:spPr>
          <a:xfrm>
            <a:off x="3355920" y="1371600"/>
            <a:ext cx="2697120" cy="141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10 </a:t>
            </a:r>
            <a:r>
              <a:rPr lang="zh-CN" sz="2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根因归并（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26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条折叠进已有规则，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25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条新增）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5"/>
          <p:cNvSpPr/>
          <p:nvPr/>
        </p:nvSpPr>
        <p:spPr>
          <a:xfrm>
            <a:off x="6208920" y="1371600"/>
            <a:ext cx="2697120" cy="141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70 → 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闭环反验：补丁前未解决 → 套回后全部解决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6"/>
          <p:cNvSpPr/>
          <p:nvPr/>
        </p:nvSpPr>
        <p:spPr>
          <a:xfrm>
            <a:off x="9061560" y="1371600"/>
            <a:ext cx="2697120" cy="1416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280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0 </a:t>
            </a:r>
            <a:r>
              <a:rPr lang="zh-CN" sz="280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残留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1,580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条人工案例的归因结果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7"/>
          <p:cNvSpPr/>
          <p:nvPr/>
        </p:nvSpPr>
        <p:spPr>
          <a:xfrm>
            <a:off x="502920" y="3063240"/>
            <a:ext cx="11185560" cy="91404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5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闭环反验多证了什么：</a:t>
            </a:r>
            <a:r>
              <a:rPr lang="en-US" sz="145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converge </a:t>
            </a:r>
            <a:r>
              <a:rPr lang="zh-CN" sz="145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只断言「补丁编译得过」且名字级匹配；</a:t>
            </a:r>
            <a:r>
              <a:rPr lang="en-US" sz="145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minimize </a:t>
            </a:r>
            <a:r>
              <a:rPr lang="zh-CN" sz="145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要求「补丁前确实未解决、套回后全部解决」——缺了前半句，本来就允许的案例会被算成补丁的功劳。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502920" y="4224600"/>
            <a:ext cx="11185560" cy="1142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15000"/>
              </a:lnSpc>
              <a:spcAft>
                <a:spcPts val="601"/>
              </a:spcAft>
            </a:pP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判定「最窄规则」必须按展开后的影响面，不能按 </a:t>
            </a: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token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{domain}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只占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token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，却覆盖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235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个类型 —— 按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token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数会把最宽的规则判成最窄。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24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3EC60B5-51A2-4317-A7DB-805F4CE934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1,580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条「转人工」，真正要补权限的是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0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条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attribution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：对每一个拒绝自动放权的案例，答「该谁修」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"/>
          <p:cNvSpPr/>
          <p:nvPr/>
        </p:nvSpPr>
        <p:spPr>
          <a:xfrm>
            <a:off x="502920" y="1371600"/>
            <a:ext cx="269712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1,147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语料的历史噪声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4"/>
          <p:cNvSpPr/>
          <p:nvPr/>
        </p:nvSpPr>
        <p:spPr>
          <a:xfrm>
            <a:off x="3355920" y="1371600"/>
            <a:ext cx="269712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342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工具侧要对齐的（索引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版本）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5"/>
          <p:cNvSpPr/>
          <p:nvPr/>
        </p:nvSpPr>
        <p:spPr>
          <a:xfrm>
            <a:off x="6208920" y="1371600"/>
            <a:ext cx="269712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ee822f"/>
                </a:solidFill>
                <a:effectLst/>
                <a:uFillTx/>
                <a:latin typeface="微软雅黑"/>
                <a:ea typeface="微软雅黑"/>
              </a:rPr>
              <a:t>53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日志质量问题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6"/>
          <p:cNvSpPr/>
          <p:nvPr/>
        </p:nvSpPr>
        <p:spPr>
          <a:xfrm>
            <a:off x="9061560" y="1371600"/>
            <a:ext cx="269712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e54c5e"/>
                </a:solidFill>
                <a:effectLst/>
                <a:uFillTx/>
                <a:latin typeface="微软雅黑"/>
                <a:ea typeface="微软雅黑"/>
              </a:rPr>
              <a:t>38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架构决策（撞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neverallow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红线）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7"/>
          <p:cNvSpPr/>
          <p:nvPr/>
        </p:nvSpPr>
        <p:spPr>
          <a:xfrm>
            <a:off x="502920" y="2880360"/>
            <a:ext cx="3840120" cy="201132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solidFill>
              <a:srgbClr val="00b0f0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6600" b="1" u="none" strike="noStrike">
                <a:solidFill>
                  <a:srgbClr val="3ea65b"/>
                </a:solidFill>
                <a:effectLst/>
                <a:uFillTx/>
                <a:latin typeface="微软雅黑"/>
                <a:ea typeface="微软雅黑"/>
              </a:rPr>
              <a:t>0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</a:pP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owner = DEVICE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：真正需要给设备补权限的条数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4663440" y="2880360"/>
            <a:ext cx="7025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归因完备性：</a:t>
            </a:r>
            <a:r>
              <a:rPr lang="en-US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1,580 → </a:t>
            </a: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归因 </a:t>
            </a:r>
            <a:r>
              <a:rPr lang="en-US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1,580</a:t>
            </a: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，残留 </a:t>
            </a:r>
            <a:r>
              <a:rPr lang="en-US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0</a:t>
            </a: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（退出码 </a:t>
            </a:r>
            <a:r>
              <a:rPr lang="en-US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0 </a:t>
            </a:r>
            <a:r>
              <a:rPr lang="zh-CN" sz="14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即判据）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Aft>
                <a:spcPts val="799"/>
              </a:spcAft>
            </a:pP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跨树稳定的是「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DEVICE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档为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0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」这个结论；原因码的数量随所选上游树变化——换成与设备对应版本的源码树，符号缺失会变多、版本差会变少。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lang="zh-CN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所以「需人工 </a:t>
            </a:r>
            <a:r>
              <a:rPr lang="en-US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1,580</a:t>
            </a:r>
            <a:r>
              <a:rPr lang="zh-CN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」不等于「还有 </a:t>
            </a:r>
            <a:r>
              <a:rPr lang="en-US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1,580 </a:t>
            </a:r>
            <a:r>
              <a:rPr lang="zh-CN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个洞」：它是工具主动拒绝越权的证据。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9"/>
          <p:cNvSpPr/>
          <p:nvPr/>
        </p:nvSpPr>
        <p:spPr>
          <a:xfrm>
            <a:off x="502920" y="5303520"/>
            <a:ext cx="11185560" cy="56664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验收判据是退出码：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1,580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条全部有 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owner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，</a:t>
            </a:r>
            <a:r>
              <a:rPr lang="en-US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0 </a:t>
            </a:r>
            <a:r>
              <a:rPr lang="zh-CN" sz="145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条落进「其他」兜底。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25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25C84B2-85A8-4F51-8832-28E11713D2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同一份判定，两个进程，逐字节相同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设备端是独立实现（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C++ / musl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），喂完全相同的输入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5" name="Table 3"/>
          <p:cNvGraphicFramePr/>
          <p:nvPr/>
        </p:nvGraphicFramePr>
        <p:xfrm>
          <a:off x="502920" y="1325880"/>
          <a:ext cx="11185560" cy="3949920"/>
        </p:xfrm>
        <a:graphic>
          <a:graphicData uri="http://schemas.openxmlformats.org/drawingml/2006/table">
            <a:tbl>
              <a:tblPr/>
              <a:tblGrid>
                <a:gridCol w="450000"/>
                <a:gridCol w="1735560"/>
                <a:gridCol w="4371480"/>
                <a:gridCol w="4628520"/>
              </a:tblGrid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#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门禁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做法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结果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--selftest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内嵌固定向量，比对宿主生成并冻结的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digest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表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PASS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：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sha1 13 + converge 24 + explain 11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组，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失败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--index-info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两端加载同一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PLI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，比计数器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rules=21824 types=1267 attrs=49 skipped=524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，与宿主一致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3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报告差分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同一份语料两端各出完整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JSON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，比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sha256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逐字节相同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4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真机采样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真读本机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kmsg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suppressed≈107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非零，量化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printk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丢帧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</a:tr>
              <a:tr h="658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查询差分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27,912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条查询，比整个输出体的 </a:t>
                      </a: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sha256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2,984,884 B </a:t>
                      </a:r>
                      <a:r>
                        <a:rPr lang="zh-CN" sz="125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逐字节相同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Rounded Rectangle 4"/>
          <p:cNvSpPr/>
          <p:nvPr/>
        </p:nvSpPr>
        <p:spPr>
          <a:xfrm>
            <a:off x="502920" y="5349240"/>
            <a:ext cx="11185560" cy="78588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四个真实存在的语义陷阱：空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perms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是通配而非空集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/ xperm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命令大小写敏感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/ permissive=2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是三态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/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通配命中时未知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perm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原样带上 —— 错一个哈希当场炸掉。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26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CEB6810-D956-4121-9334-52D1F45633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倒排索引：设备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34×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，宿主 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238×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按对象类线性扫描 → 类型对倒排索引（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postings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由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clone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继承，每棵树只建一次）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3"/>
          <p:cNvSpPr/>
          <p:nvPr/>
        </p:nvSpPr>
        <p:spPr>
          <a:xfrm>
            <a:off x="502920" y="1325880"/>
            <a:ext cx="361152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34×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设备查询路径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5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0.0987 → 0.0029 ms/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条（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27,912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条查询）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4"/>
          <p:cNvSpPr/>
          <p:nvPr/>
        </p:nvSpPr>
        <p:spPr>
          <a:xfrm>
            <a:off x="4316040" y="1325880"/>
            <a:ext cx="361152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238×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宿主判定路径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5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8.842 s → 0.037 s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（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4,911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个唯一案例）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5"/>
          <p:cNvSpPr/>
          <p:nvPr/>
        </p:nvSpPr>
        <p:spPr>
          <a:xfrm>
            <a:off x="8129160" y="1325880"/>
            <a:ext cx="3611520" cy="2331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42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151 → 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索引建表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5000"/>
              </a:lnSpc>
            </a:pP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否则一次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converge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要重建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151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502920" y="3913560"/>
            <a:ext cx="1118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为什么快：每个案例从「扫一遍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21,824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条规则」变成「查一个 </a:t>
            </a:r>
            <a:r>
              <a:rPr lang="en-US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(src, tgt, cls) </a:t>
            </a:r>
            <a:r>
              <a:rPr lang="zh-CN" sz="13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桶」—— 用空间换时间，索引每棵树只建一次。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7"/>
          <p:cNvSpPr/>
          <p:nvPr/>
        </p:nvSpPr>
        <p:spPr>
          <a:xfrm>
            <a:off x="502920" y="4983480"/>
            <a:ext cx="11185560" cy="868320"/>
          </a:xfrm>
          <a:prstGeom prst="roundRect">
            <a:avLst>
              <a:gd name="adj" fmla="val 6000"/>
            </a:avLst>
          </a:prstGeom>
          <a:solidFill>
            <a:srgbClr val="eaf6fd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口径：两侧各用真实实现跑同一负载，输出逐字节相同。板端 </a:t>
            </a:r>
            <a:r>
              <a:rPr lang="en-US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71.25 s </a:t>
            </a:r>
            <a:r>
              <a:rPr lang="zh-CN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是旧代码在 </a:t>
            </a:r>
            <a:r>
              <a:rPr lang="en-US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RK3568 </a:t>
            </a:r>
            <a:r>
              <a:rPr lang="zh-CN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上的实测；「约 </a:t>
            </a:r>
            <a:r>
              <a:rPr lang="en-US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2 s</a:t>
            </a:r>
            <a:r>
              <a:rPr lang="zh-CN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」是按 </a:t>
            </a:r>
            <a:r>
              <a:rPr lang="en-US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34× </a:t>
            </a:r>
            <a:r>
              <a:rPr lang="zh-CN" sz="14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的倍数外推而非测量，上板后须复测。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27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27979FD-F5DC-4CE9-9C6A-C7E2B48328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LLM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的默认行为是过宽，护栏把它按回最小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docs/eval-llm-guardrail.md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同批真实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三档对照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Table 3"/>
          <p:cNvGraphicFramePr/>
          <p:nvPr/>
        </p:nvGraphicFramePr>
        <p:xfrm>
          <a:off x="502920" y="1371600"/>
          <a:ext cx="11185560" cy="2560320"/>
        </p:xfrm>
        <a:graphic>
          <a:graphicData uri="http://schemas.openxmlformats.org/drawingml/2006/table">
            <a:tbl>
              <a:tblPr/>
              <a:tblGrid>
                <a:gridCol w="5872320"/>
                <a:gridCol w="1677600"/>
                <a:gridCol w="3635280"/>
              </a:tblGrid>
              <a:tr h="640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方案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样本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过宽（越权加权限）率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b4"/>
                    </a:solidFill>
                  </a:tcPr>
                </a:tc>
              </a:tr>
              <a:tr h="640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未受约束的「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AI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直接放权」（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naive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档）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120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100%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真实 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（明确最小权限指令，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deepseek-v4-flash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54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有效补丁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0%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54/54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通过评审）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</a:tr>
              <a:tr h="640080"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PolicyLoop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：最小权限指令 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规则护栏 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确定性精修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120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914400">
                        <a:lnSpc>
                          <a:spcPct val="110000"/>
                        </a:lnSpc>
                      </a:pP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0%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120/120 </a:t>
                      </a:r>
                      <a:r>
                        <a:rPr lang="zh-CN" sz="1300" b="0" u="none" strike="noStrike">
                          <a:solidFill>
                            <a:srgbClr val="0f1423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被拦截并精修回最小）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Rounded Rectangle 4"/>
          <p:cNvSpPr/>
          <p:nvPr/>
        </p:nvSpPr>
        <p:spPr>
          <a:xfrm>
            <a:off x="502920" y="4160520"/>
            <a:ext cx="11185560" cy="82260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9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越权倾向是 </a:t>
            </a: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LLM </a:t>
            </a:r>
            <a:r>
              <a:rPr lang="zh-CN" sz="19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的默认行为，提示词消除不掉，只能靠确定性护栏兜住。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502920" y="5230440"/>
            <a:ext cx="1118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lang="zh-CN" sz="14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因此架构上把「生成候选」和「批准授权」拆成两个角色 —— 后者永远是规则，绝不用模型。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28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F56BA7B-EAAC-45B3-A19F-8FEE4E1C61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界面：如实区分数据来源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主机端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Agent Trace  · 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板端控制台实时卡片 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· 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快照现读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3" descr="fig5-agent-trace.png"/>
          <p:cNvPicPr/>
          <p:nvPr/>
        </p:nvPicPr>
        <p:blipFill>
          <a:blip r:embed="rId1"/>
          <a:stretch/>
        </p:blipFill>
        <p:spPr>
          <a:xfrm>
            <a:off x="1843920" y="1188720"/>
            <a:ext cx="257544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4"/>
          <p:cNvSpPr/>
          <p:nvPr/>
        </p:nvSpPr>
        <p:spPr>
          <a:xfrm>
            <a:off x="1645920" y="523044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lang="zh-CN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主机端 </a:t>
            </a:r>
            <a:r>
              <a:rPr lang="en-US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Web UI · Agent Trace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Picture 5" descr="fig6-board-live-cards.png"/>
          <p:cNvPicPr/>
          <p:nvPr/>
        </p:nvPicPr>
        <p:blipFill>
          <a:blip r:embed="rId2"/>
          <a:stretch/>
        </p:blipFill>
        <p:spPr>
          <a:xfrm>
            <a:off x="5053680" y="1188720"/>
            <a:ext cx="241920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Box 6"/>
          <p:cNvSpPr/>
          <p:nvPr/>
        </p:nvSpPr>
        <p:spPr>
          <a:xfrm>
            <a:off x="4846320" y="52304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lang="zh-CN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板端控制台 </a:t>
            </a:r>
            <a:r>
              <a:rPr lang="en-US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拨开关后的实时卡片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7" descr="fig7-board-snapshot.png"/>
          <p:cNvPicPr/>
          <p:nvPr/>
        </p:nvPicPr>
        <p:blipFill>
          <a:blip r:embed="rId3"/>
          <a:stretch/>
        </p:blipFill>
        <p:spPr>
          <a:xfrm>
            <a:off x="8116920" y="1188720"/>
            <a:ext cx="241920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8"/>
          <p:cNvSpPr/>
          <p:nvPr/>
        </p:nvSpPr>
        <p:spPr>
          <a:xfrm>
            <a:off x="7909560" y="52304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15000"/>
              </a:lnSpc>
            </a:pPr>
            <a:r>
              <a:rPr lang="zh-CN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板端控制台 </a:t>
            </a:r>
            <a:r>
              <a:rPr lang="en-US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· </a:t>
            </a:r>
            <a:r>
              <a:rPr lang="zh-CN" sz="11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载入当前快照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9"/>
          <p:cNvSpPr/>
          <p:nvPr/>
        </p:nvSpPr>
        <p:spPr>
          <a:xfrm>
            <a:off x="502920" y="5596200"/>
            <a:ext cx="11185560" cy="56664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工具造成的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明确标注「工具造成」，不冒充分析结果；「累计案例」与「本次窗口行数」分开计数 —— 它们测的不是一回事。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ldNum" idx="29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51FF9FA-7BF6-4674-B2A0-3ED3BBF753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真机：拨一次开关，</a:t>
            </a:r>
            <a:r>
              <a:rPr lang="en-US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1~2 </a:t>
            </a: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秒出结论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RK3568  ·  OpenHarmony 5.0.3.135  ·  enforcing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3" descr="fig4-board-runtime.png"/>
          <p:cNvPicPr/>
          <p:nvPr/>
        </p:nvPicPr>
        <p:blipFill>
          <a:blip r:embed="rId1"/>
          <a:stretch/>
        </p:blipFill>
        <p:spPr>
          <a:xfrm>
            <a:off x="502920" y="1241280"/>
            <a:ext cx="7817760" cy="39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Rounded Rectangle 4"/>
          <p:cNvSpPr/>
          <p:nvPr/>
        </p:nvSpPr>
        <p:spPr>
          <a:xfrm>
            <a:off x="8503920" y="1261800"/>
            <a:ext cx="3184560" cy="124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</a:pPr>
            <a:r>
              <a:rPr lang="zh-CN" sz="13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正规 </a:t>
            </a:r>
            <a:r>
              <a:rPr lang="en-US" sz="13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init service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开机自启、自有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enforcing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域，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201"/>
              </a:spcBef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不需要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PC / su / begetctl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5"/>
          <p:cNvSpPr/>
          <p:nvPr/>
        </p:nvSpPr>
        <p:spPr>
          <a:xfrm>
            <a:off x="8503920" y="2597040"/>
            <a:ext cx="3184560" cy="124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</a:pPr>
            <a:r>
              <a:rPr lang="zh-CN" sz="13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冷启动即采集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up 0 min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时服务已在域内采集，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201"/>
              </a:spcBef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本域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= 0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6"/>
          <p:cNvSpPr/>
          <p:nvPr/>
        </p:nvSpPr>
        <p:spPr>
          <a:xfrm>
            <a:off x="8503920" y="3931920"/>
            <a:ext cx="3184560" cy="124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5000"/>
              </a:lnSpc>
              <a:spcAft>
                <a:spcPts val="400"/>
              </a:spcAft>
            </a:pPr>
            <a:r>
              <a:rPr lang="zh-CN" sz="13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端到端时延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两个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秒轮询叠加：拨开关 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spcBef>
                <a:spcPts val="201"/>
              </a:spcBef>
            </a:pP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采集 → 分析 → 横幅 </a:t>
            </a:r>
            <a:r>
              <a:rPr lang="en-US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+ </a:t>
            </a:r>
            <a:r>
              <a:rPr lang="zh-CN" sz="11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系统通知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7"/>
          <p:cNvSpPr/>
          <p:nvPr/>
        </p:nvSpPr>
        <p:spPr>
          <a:xfrm>
            <a:off x="502920" y="5532120"/>
            <a:ext cx="11185560" cy="58500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部署依赖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PC ≠ </a:t>
            </a:r>
            <a:r>
              <a:rPr lang="zh-CN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运行依赖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PC</a:t>
            </a:r>
            <a:r>
              <a:rPr lang="zh-CN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：采集路径上没有任何一环需要 </a:t>
            </a: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PC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30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32CE1A8-3895-4B58-89CF-F77FD631C7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关键数字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每一个都能用附录 </a:t>
            </a:r>
            <a:r>
              <a:rPr lang="en-US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A </a:t>
            </a: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的命令复现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3"/>
          <p:cNvSpPr/>
          <p:nvPr/>
        </p:nvSpPr>
        <p:spPr>
          <a:xfrm>
            <a:off x="502920" y="137160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21,824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条索引规则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1,267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类型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/ 49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属性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4"/>
          <p:cNvSpPr/>
          <p:nvPr/>
        </p:nvSpPr>
        <p:spPr>
          <a:xfrm>
            <a:off x="4316040" y="137160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99.94%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索引召回率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（质检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+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占位解析）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8129160" y="137160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100%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补丁精确最小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179/179 · 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过宽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0%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502920" y="361188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2.98 MB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两端查询输出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逐字节相同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7"/>
          <p:cNvSpPr/>
          <p:nvPr/>
        </p:nvSpPr>
        <p:spPr>
          <a:xfrm>
            <a:off x="4316040" y="361188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34×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设备查询加速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宿主 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238×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8"/>
          <p:cNvSpPr/>
          <p:nvPr/>
        </p:nvSpPr>
        <p:spPr>
          <a:xfrm>
            <a:off x="8129160" y="3611880"/>
            <a:ext cx="3611520" cy="2011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0 </a:t>
            </a:r>
            <a:r>
              <a:rPr lang="zh-CN" sz="36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条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真正需要给设备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</a:pP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补权限（</a:t>
            </a:r>
            <a:r>
              <a:rPr lang="en-US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owner=DEVICE</a:t>
            </a:r>
            <a:r>
              <a:rPr lang="zh-CN" sz="125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）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31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6D20056-E3B8-4557-9A13-EE2607D02F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四个改变了设计的坑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每一个都推翻了动手前的假设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3"/>
          <p:cNvSpPr/>
          <p:nvPr/>
        </p:nvSpPr>
        <p:spPr>
          <a:xfrm>
            <a:off x="502920" y="1298520"/>
            <a:ext cx="5348880" cy="171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1  neverallow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不在二进制策略里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「让设备自己反推全部策略语义」原理上不通 —— 从设想变成架构约束。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4"/>
          <p:cNvSpPr/>
          <p:nvPr/>
        </p:nvSpPr>
        <p:spPr>
          <a:xfrm>
            <a:off x="6108120" y="1298520"/>
            <a:ext cx="5348880" cy="171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2  printk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限流会静默丢弃 </a:t>
            </a: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denial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每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5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秒只放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10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条，超出直接丢，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dmesg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与采集器一起失明。修法：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init job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写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printk_ratelimit=0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；验收改用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unique_cases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5"/>
          <p:cNvSpPr/>
          <p:nvPr/>
        </p:nvSpPr>
        <p:spPr>
          <a:xfrm>
            <a:off x="502920" y="3182040"/>
            <a:ext cx="5348880" cy="171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3  init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的 </a:t>
            </a: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caps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是整套替换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「只有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CAP_SYSLOG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」连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uid 0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也失去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DAC_OVERRIDE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，而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DAC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失败不出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AVC ——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判活用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wchan + fd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，定根用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chmod 0777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6"/>
          <p:cNvSpPr/>
          <p:nvPr/>
        </p:nvSpPr>
        <p:spPr>
          <a:xfrm>
            <a:off x="6108120" y="3182040"/>
            <a:ext cx="5348880" cy="171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2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4  </a:t>
            </a:r>
            <a:r>
              <a:rPr lang="zh-CN" sz="16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差分语料证明不了分支覆盖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</a:pP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4,911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簇真实语料没抓到的偏差，固定向量首跑就抓出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个 —— 最终取「固定向量 </a:t>
            </a:r>
            <a:r>
              <a:rPr lang="en-US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+ </a:t>
            </a:r>
            <a:r>
              <a:rPr lang="zh-CN" sz="13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差分」两条腿。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7"/>
          <p:cNvSpPr/>
          <p:nvPr/>
        </p:nvSpPr>
        <p:spPr>
          <a:xfrm>
            <a:off x="502920" y="5139000"/>
            <a:ext cx="11185560" cy="56664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共同点：都是「看起来正常」的假象 —— 服务活着、日志干净、策略也对，缺陷藏在看不见的地方。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ldNum" idx="32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544FA5A-2D24-45D7-9FB7-F516DAFAFA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口径与边界：每个数字能证明什么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521280" y="78624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zh-CN" sz="1250" b="0" u="none" strike="noStrike">
                <a:solidFill>
                  <a:srgbClr val="8a93a3"/>
                </a:solidFill>
                <a:effectLst/>
                <a:uFillTx/>
                <a:latin typeface="微软雅黑"/>
                <a:ea typeface="微软雅黑"/>
              </a:rPr>
              <a:t>安全工具的可信度来自说清边界，而不是把数字说大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3"/>
          <p:cNvSpPr/>
          <p:nvPr/>
        </p:nvSpPr>
        <p:spPr>
          <a:xfrm>
            <a:off x="502920" y="1325880"/>
            <a:ext cx="548604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语料来自上游，不是本设备采集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5,230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条注释每一行都以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#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开头，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96.8%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逐字来自上游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.te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；说明的是工具在真实历史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上的表现。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4"/>
          <p:cNvSpPr/>
          <p:nvPr/>
        </p:nvSpPr>
        <p:spPr>
          <a:xfrm>
            <a:off x="502920" y="2697480"/>
            <a:ext cx="548604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构造内自洽 ≠ 独立金标准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exact_min=100%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是「剔除规则 → 补回来」的自洽性验证；独立证据只有上游人工修复对照与真机回归。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5"/>
          <p:cNvSpPr/>
          <p:nvPr/>
        </p:nvSpPr>
        <p:spPr>
          <a:xfrm>
            <a:off x="6263640" y="1325880"/>
            <a:ext cx="548604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外推值一律标注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板端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71.25 s →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约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2 s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是外推；「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39%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比上游更窄」只在单条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denial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视角下成立。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6"/>
          <p:cNvSpPr/>
          <p:nvPr/>
        </p:nvSpPr>
        <p:spPr>
          <a:xfrm>
            <a:off x="6263640" y="2697480"/>
            <a:ext cx="5486040" cy="1234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30000"/>
              </a:lnSpc>
              <a:spcAft>
                <a:spcPts val="499"/>
              </a:spcAft>
            </a:pPr>
            <a:r>
              <a:rPr lang="zh-CN" sz="145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未做但已证伪的，写证伪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boolean / constrain / MLS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三类根因在本平台原理上无从发生，不列进「已检查项」。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502920" y="4160520"/>
            <a:ext cx="1118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lang="zh-CN" sz="13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仍然存在的边界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502920" y="4480560"/>
            <a:ext cx="11185560" cy="86832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30000"/>
              </a:lnSpc>
            </a:pP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索引须与目标策略树对齐（上游活树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21,824 ≠ 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板端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HAP 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内置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19,800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）　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·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　红线两条防线各有洞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201"/>
              </a:spcBef>
            </a:pP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板子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5.0.3.135 ≠ 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编译树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6.1.0.31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·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　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printk </a:t>
            </a:r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限流只减少不消除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ldNum" idx="33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79C9A31-248D-46AE-9056-FFEF88D353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/>
          </p:nvPr>
        </p:nvSpPr>
        <p:spPr>
          <a:xfrm>
            <a:off x="502920" y="182880"/>
            <a:ext cx="8595000" cy="56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zh-CN" sz="25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不足与下一步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ounded Rectangle 2"/>
          <p:cNvSpPr/>
          <p:nvPr/>
        </p:nvSpPr>
        <p:spPr>
          <a:xfrm>
            <a:off x="502920" y="1417320"/>
            <a:ext cx="5348880" cy="2788560"/>
          </a:xfrm>
          <a:prstGeom prst="roundRect">
            <a:avLst>
              <a:gd name="adj" fmla="val 6000"/>
            </a:avLst>
          </a:prstGeom>
          <a:solidFill>
            <a:srgbClr val="f5fafe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15000"/>
              </a:lnSpc>
              <a:spcAft>
                <a:spcPts val="1199"/>
              </a:spcAft>
            </a:pPr>
            <a:r>
              <a:rPr lang="zh-CN" sz="1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交付前必补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en-US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--cross-layer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与 </a:t>
            </a:r>
            <a:r>
              <a:rPr lang="en-US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hap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计数器只有宿主侧结果，尚未在真机上跑过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板端控制台 </a:t>
            </a:r>
            <a:r>
              <a:rPr lang="en-US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HAP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不会开机自启，需要手动点一次图标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封面信息与截图占位由 </a:t>
            </a:r>
            <a:r>
              <a:rPr lang="en-US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docgate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的 </a:t>
            </a:r>
            <a:r>
              <a:rPr lang="en-US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placeholders </a:t>
            </a:r>
            <a:r>
              <a:rPr lang="zh-CN" sz="1300" b="0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门禁盯着，到期未清即判红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3"/>
          <p:cNvSpPr/>
          <p:nvPr/>
        </p:nvSpPr>
        <p:spPr>
          <a:xfrm>
            <a:off x="6126480" y="1417320"/>
            <a:ext cx="5562000" cy="2788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af6fd"/>
            </a:solidFill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t">
            <a:noAutofit/>
          </a:bodyPr>
          <a:p>
            <a:pPr defTabSz="914400">
              <a:lnSpc>
                <a:spcPct val="115000"/>
              </a:lnSpc>
              <a:spcAft>
                <a:spcPts val="1199"/>
              </a:spcAft>
            </a:pPr>
            <a:r>
              <a:rPr lang="zh-CN" sz="1800" b="1" u="none" strike="noStrike">
                <a:solidFill>
                  <a:srgbClr val="0078b4"/>
                </a:solidFill>
                <a:effectLst/>
                <a:uFillTx/>
                <a:latin typeface="微软雅黑"/>
                <a:ea typeface="微软雅黑"/>
              </a:rPr>
              <a:t>下一步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zh-CN" sz="13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改走 </a:t>
            </a:r>
            <a:r>
              <a:rPr lang="en-US" sz="13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audit netlink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取无损通道，摆脱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printk 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限流；现在只做到把限流关掉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zh-CN" sz="13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索引降到与板子一致的 </a:t>
            </a:r>
            <a:r>
              <a:rPr lang="en-US" sz="13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5.0.3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量化版本漂移对召回率的影响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微软雅黑"/>
                <a:ea typeface="微软雅黑"/>
              </a:rPr>
              <a:t>▍ </a:t>
            </a:r>
            <a:r>
              <a:rPr lang="zh-CN" sz="1300" b="1" u="none" strike="noStrike">
                <a:solidFill>
                  <a:srgbClr val="0f1423"/>
                </a:solidFill>
                <a:effectLst/>
                <a:uFillTx/>
                <a:latin typeface="微软雅黑"/>
                <a:ea typeface="微软雅黑"/>
              </a:rPr>
              <a:t>板内触发</a:t>
            </a:r>
            <a:r>
              <a:rPr lang="zh-CN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　实时闭环目前只有「捕获」这一半不需要 </a:t>
            </a:r>
            <a:r>
              <a:rPr lang="en-US" sz="1200" b="0" u="none" strike="noStrike">
                <a:solidFill>
                  <a:srgbClr val="5b6474"/>
                </a:solidFill>
                <a:effectLst/>
                <a:uFillTx/>
                <a:latin typeface="微软雅黑"/>
                <a:ea typeface="微软雅黑"/>
              </a:rPr>
              <a:t>PC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4"/>
          <p:cNvSpPr/>
          <p:nvPr/>
        </p:nvSpPr>
        <p:spPr>
          <a:xfrm>
            <a:off x="502920" y="4617720"/>
            <a:ext cx="11185560" cy="585000"/>
          </a:xfrm>
          <a:prstGeom prst="roundRect">
            <a:avLst>
              <a:gd name="adj" fmla="val 6000"/>
            </a:avLst>
          </a:prstGeom>
          <a:solidFill>
            <a:srgbClr val="0f1423"/>
          </a:solidFill>
          <a:ln>
            <a:noFill/>
          </a:ln>
          <a:effectLst>
            <a:reflection algn="bl" dir="5400000" dist="25400" endA="300" endPos="40000" rotWithShape="0" stA="50000" sy="-1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164520" tIns="109800" bIns="91440" anchor="ctr">
            <a:noAutofit/>
          </a:bodyPr>
          <a:p>
            <a:pPr defTabSz="914400">
              <a:lnSpc>
                <a:spcPct val="125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优先级：先把演示链上每个断言都补成真机证据，再谈策略面扩展。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ldNum" idx="34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F0BD591-BF64-4AE9-BFB7-07B062C5C3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a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文本框 8"/>
          <p:cNvSpPr/>
          <p:nvPr/>
        </p:nvSpPr>
        <p:spPr>
          <a:xfrm>
            <a:off x="3557160" y="1942200"/>
            <a:ext cx="50770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zh-CN" sz="6600" b="1" u="none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谢  谢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sldNum" idx="35"/>
          </p:nvPr>
        </p:nvSpPr>
        <p:spPr>
          <a:xfrm>
            <a:off x="47242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4B505A9-12B5-4BAF-8A58-E2D660D2B413}" type="slidenum">
              <a:rPr lang="en-US" sz="1200" b="0" u="none" strike="noStrike">
                <a:solidFill>
                  <a:schemeClr val="lt1"/>
                </a:solidFill>
                <a:effectLst/>
                <a:uFillTx/>
                <a:latin typeface="Source Han Sans CN Normal"/>
                <a:ea typeface="Source Han Sans CN Norm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自定义设计方案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 pitchFamily="0" charset="1"/>
        <a:ea typeface="宋体" pitchFamily="0" charset="1"/>
        <a:cs typeface=""/>
      </a:majorFont>
      <a:minorFont>
        <a:latin typeface="Calibri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  <a:tileRect l="0" t="0" r="0" b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自定义设计方案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 pitchFamily="0" charset="1"/>
        <a:ea typeface="宋体" pitchFamily="0" charset="1"/>
        <a:cs typeface=""/>
      </a:majorFont>
      <a:minorFont>
        <a:latin typeface="Calibri" pitchFamily="0" charset="1"/>
        <a:ea typeface="宋体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  <a:tileRect l="0" t="0" r="0" b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2026-09-21T14:20:13Z</dcterms:created>
  <dc:creator/>
  <dc:description/>
  <dc:language>zh-CN</dc:language>
  <cp:lastModifiedBy/>
  <dcterms:modified xsi:type="dcterms:W3CDTF">2026-10-20T15:57:23Z</dcterms:modified>
  <cp:revision>1</cp:revision>
  <dc:subject/>
  <dc:title/>
</cp:coreProperties>
</file>