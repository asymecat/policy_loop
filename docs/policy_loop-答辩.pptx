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15="http://schemas.microsoft.com/office/powerpoint/2012/main" xmlns:a="http://schemas.openxmlformats.org/drawingml/2006/main" xmlns:p="http://schemas.openxmlformats.org/presentationml/2006/main" xmlns:r="http://schemas.openxmlformats.org/officeDocument/2006/relationships" xmlns:mc="http://schemas.openxmlformats.org/markup-compatibility/2006" firstSlideNum="1" mc:Ignorable="p15">
  <p:sldMasterIdLst>
    <p:sldMasterId id="2147483648" r:id="rId0"/>
  </p:sldMasterIdLst>
  <p:notesMasterIdLst>
    <p:notesMasterId r:id="rId5"/>
  </p:notesMasterIdLst>
  <p:sldIdLst>
    <p:sldId id="256" r:id="rId1"/>
    <p:sldId id="257" r:id="rId2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59" r:id="rId4"/>
  </p:sldIdLst>
  <p:sldSz cx="12192000" cy="6858000"/>
  <p:notesSz cx="6858000" cy="9144000"/>
  <p:defaultTextStyle>
    <a:defPPr>
      <a:defRPr lang="zh-CN"/>
    </a:defPPr>
    <a:lvl1pPr marL="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>
        <p15:guide id="1" orient="horz" pos="2351" userDrawn="true">
          <p15:clr>
            <a:srgbClr val="A4A3A4"/>
          </p15:clr>
        </p15:guide>
        <p15:guide id="2" pos="3840" userDrawn="true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>
  <p:showPr showNarration="true">
    <p:present/>
    <p:sldAll/>
    <p:penClr>
      <a:prstClr val="red"/>
    </p:penClr>
    <p:extLst>
      <p:ext uri="{EC167BDD-8182-4AB7-AECC-EB403E3ABB37}"/>
      <p:ext uri="{2FDB2607-1784-4EEB-B798-7EB5836EED8A}"/>
    </p:extLst>
  </p:showPr>
  <p:clrMru>
    <a:srgbClr val="08A8F6"/>
    <a:srgbClr val="0F7FF6"/>
    <a:srgbClr val="7BBC49"/>
    <a:srgbClr val="77BB69"/>
    <a:srgbClr val="329AD7"/>
    <a:srgbClr val="F7F9FC"/>
    <a:srgbClr val="9DC0E3"/>
    <a:srgbClr val="DFEAF6"/>
    <a:srgbClr val="E1E0E0"/>
    <a:srgbClr val="EEEEEE"/>
  </p:clrMru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>
    <p:restoredLeft sz="6491" autoAdjust="false"/>
    <p:restoredTop sz="94607" autoAdjust="false"/>
  </p:normalViewPr>
  <p:slideViewPr>
    <p:cSldViewPr snapToGrid="false" showGuides="true">
      <p:cViewPr varScale="true">
        <p:scale>
          <a:sx n="62" d="100"/>
          <a:sy n="62" d="100"/>
        </p:scale>
        <p:origin x="1192" y="52"/>
      </p:cViewPr>
      <p:guideLst>
        <p:guide orient="horz" pos="235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tableStyles" Target="tableStyles.xml"/><Relationship Id="rId8" Type="http://schemas.openxmlformats.org/officeDocument/2006/relationships/viewProps" Target="viewProp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true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false"/>
          <a:lstStyle>
            <a:lvl1pPr algn="l">
              <a:defRPr sz="1200"/>
            </a:lvl1pPr>
          </a:lstStyle>
          <a:p>
            <a:pPr/>
            <a:endParaRPr lang="zh-CN" altLang="en-US"/>
          </a:p>
        </p:txBody>
      </p:sp>
      <p:sp>
        <p:nvSpPr>
          <p:cNvPr id="3" name="日期占位符 2"/>
          <p:cNvSpPr>
            <a:spLocks noGrp="true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false"/>
          <a:lstStyle>
            <a:lvl1pPr algn="r">
              <a:defRPr sz="1200"/>
            </a:lvl1pPr>
          </a:lstStyle>
          <a:p>
            <a:pPr/>
            <a:fld id="{99CE6E62-0A4A-440F-A3A0-1904151E0F67}" type="datetimeFigureOut">
              <a:rPr lang="zh-CN" altLang="en-US" smtClean="false"/>
              <a:t>2026/9/1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true" noRot="true" noChangeAspect="true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false" anchor="ctr"/>
          <a:lstStyle/>
          <a:p>
            <a:pPr/>
            <a:endParaRPr lang="zh-CN" altLang="en-US"/>
          </a:p>
        </p:txBody>
      </p:sp>
      <p:sp>
        <p:nvSpPr>
          <p:cNvPr id="5" name="备注占位符 4"/>
          <p:cNvSpPr>
            <a:spLocks noGrp="true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false"/>
          <a:lstStyle/>
          <a:p>
            <a:pPr lvl="0"/>
            <a:r>
              <a:rPr lang="zh-CN" altLang="en-US"/>
              <a:t>编辑母版文本样式</a:t>
            </a:r>
            <a:endParaRPr/>
          </a:p>
          <a:p>
            <a:pPr lvl="1"/>
            <a:r>
              <a:rPr lang="zh-CN" altLang="en-US"/>
              <a:t>第二级</a:t>
            </a:r>
            <a:endParaRPr/>
          </a:p>
          <a:p>
            <a:pPr lvl="2"/>
            <a:r>
              <a:rPr lang="zh-CN" altLang="en-US"/>
              <a:t>第三级</a:t>
            </a:r>
            <a:endParaRPr/>
          </a:p>
          <a:p>
            <a:pPr lvl="3"/>
            <a:r>
              <a:rPr lang="zh-CN" altLang="en-US"/>
              <a:t>第四级</a:t>
            </a:r>
            <a:endParaRPr/>
          </a:p>
          <a:p>
            <a:pPr lvl="4"/>
            <a:r>
              <a:rPr lang="zh-CN" altLang="en-US"/>
              <a:t>第五级</a:t>
            </a:r>
            <a:endParaRPr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false" anchor="b"/>
          <a:lstStyle>
            <a:lvl1pPr algn="l">
              <a:defRPr sz="1200"/>
            </a:lvl1pPr>
          </a:lstStyle>
          <a:p>
            <a:pPr/>
            <a:endParaRPr lang="zh-CN" altLang="en-US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false" anchor="b"/>
          <a:lstStyle>
            <a:lvl1pPr algn="r">
              <a:defRPr sz="1200"/>
            </a:lvl1pPr>
          </a:lstStyle>
          <a:p>
            <a:pPr/>
            <a:fld id="{F45C4DF4-6413-405D-8311-20A510DC5EFC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false" eaLnBrk="true" latinLnBrk="false" hangingPunct="true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0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true" noRot="true" noChangeAspect="true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备注占位符 2"/>
          <p:cNvSpPr>
            <a:spLocks noGrp="true"/>
          </p:cNvSpPr>
          <p:nvPr>
            <p:ph type="body" idx="1"/>
          </p:nvPr>
        </p:nvSpPr>
        <p:spPr/>
        <p:txBody>
          <a:bodyPr/>
          <a:lstStyle/>
          <a:p>
            <a:pPr/>
            <a:endParaRPr kumimoji="true" lang="zh-CN" altLang="en-US"/>
          </a:p>
        </p:txBody>
      </p:sp>
      <p:sp>
        <p:nvSpPr>
          <p:cNvPr id="4" name="灯片编号占位符 3"/>
          <p:cNvSpPr>
            <a:spLocks noGrp="true"/>
          </p:cNvSpPr>
          <p:nvPr>
            <p:ph type="sldNum" sz="quarter" idx="5"/>
          </p:nvPr>
        </p:nvSpPr>
        <p:spPr/>
        <p:txBody>
          <a:bodyPr/>
          <a:lstStyle/>
          <a:p>
            <a:pPr/>
            <a:fld id="{F45C4DF4-6413-405D-8311-20A510DC5EFC}" type="slidenum">
              <a:rPr lang="zh-CN" altLang="en-US" smtClean="false"/>
              <a:t>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45 秒：一条 denial 卡住三件事：读不懂、找不准、补不对。现场常见的应对是把门禁关成 permissive —— 功能恢复了，强制访问控制却没有了。上游自己的注释里就埋着 5,230 条历史 denial，全靠人力诊断。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30 秒：如果只让评委记住一页，就是这一页。零误报、两端逐字节相同、真正要补权限 0 条 —— 这三个数别的方案给不出来。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30 秒：我们不回答「这条访问能不能放行」，回答「该不该放行」：先问红线，再问最小，最后验证真消除且无回归。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30 秒：按「能独立验证」分四层，主机端重、设备端轻，中间只有 PLI 只读索引和判定结果这条窄接口。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25 秒：四原则的核心是第一条：安全决策全部由确定性规则做，LLM 只写解释；第二条，工具永不自动写盘。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40 秒：为什么不把整个系统搬到设备上？设备上没有 .te 源码，neverallow 又是编译期断言、不进二进制。拿不到红线，工具就退化成「见 denial 就放行」。所以索引必须构建期导出。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35 秒：七个 Agent 单向执行。两个刻意设计：CrossLayer 只读，加不加结论不变；流水线没有回路，Verify 失败直接转人工 —— 允许重试等于迭代出更宽的补丁。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30 秒：五道拒绝点，加上六道 apply_guards。右边这个真实例子最能说明问题：只差一个命令号，「见 denial 就加 allow」会写一条已经存在的规则，我们给的是 allowxperm。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30 秒：5,161 条日志去重成 4,911 个案例，4.16 秒出清单：70 类可自动补丁，1,580 类转人工。转人工是主动拒绝越权，不是做不到。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25 秒：补丁从 69 行归并到 54 条根因规则，再套回索引反验前后都关上。最窄规则按影响面判，不按 token 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30 秒：1,580 条逐条回答「该谁修」，真正需要给设备补权限的是 0 条。大部分是语料历史噪声，38 条是撞红线的架构决策。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30 秒：设备端是独立的 C++ 实现。五项门禁全绿，最有说服力的是 27,912 条查询、2.98 MB 输出逐字节相同。四个语义陷阱，错一个哈希就炸。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25 秒：线性扫描换成类型对倒排索引，设备 34 倍、宿主 238 倍。板端约 2 秒是外推，上板后要复测。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25 秒：未受约束的 AI 直接放权，过宽率 100%；同批样本经确定性护栏，0%。越权倾向消不掉，只能靠规则兜住。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20 秒：界面原则是如实区分数据来源：工具造成的 denial 必须标注，不冒充分析结果。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30 秒：采集器是正规 init service，开机自启、自有 enforcing 域，拨一次开关 1~2 秒出结论。部署依赖 PC，运行不依赖 PC。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20 秒：六个最强的数字，每一个都能用附录 A 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30 秒：四个坑都改过设计，共同点是「看起来正常」的假象：服务活着、日志干净、策略也对，缺陷在看不见的地方。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25 秒：安全工具的可信度来自说清边界：语料来自上游、自洽不等于金标准、外推值必须标注、证伪也要写。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20 秒：交付前必补的和下一步方向。谢谢各位老师。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开场（约 10 秒）：各位评委老师好，我们是 PolicyLoop 门禁团队。参赛作品 PolicyLoop，解决 OpenHarmony SELinux 拒绝日志的诊断与最小权限修复问题。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约 10 秒：三部分 —— 为什么要做、怎么做、实测到什么程度；以及我们主动划出的边界。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1.png"/></Relationships>
</file>

<file path=ppt/slideLayouts/_rels/slideLayout2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2.png"/><Relationship Id="rId2" Type="http://schemas.openxmlformats.org/officeDocument/2006/relationships/image" Target="media/image3.png"/><Relationship Id="rId3" Type="http://schemas.openxmlformats.org/officeDocument/2006/relationships/image" Target="media/image4.png"/></Relationships>
</file>

<file path=ppt/slideLayouts/_rels/slideLayout3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5.png"/></Relationships>
</file>

<file path=ppt/slideLayouts/_rels/slideLayout6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Relationship Id="rId1" Type="http://schemas.openxmlformats.org/officeDocument/2006/relationships/image" Target="media/image6.png"/><Relationship Id="rId2" Type="http://schemas.openxmlformats.org/officeDocument/2006/relationships/image" Target="media/image5.png"/></Relationships>
</file>

<file path=ppt/slideLayouts/_rels/slideLayout7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pic>
        <p:nvPicPr>
          <p:cNvPr id="3" name="图片 7" descr="基金会+OH logo组合-03"/>
          <p:cNvPicPr>
            <a:picLocks noChangeAspect="true"/>
          </p:cNvPicPr>
          <p:nvPr userDrawn="true"/>
        </p:nvPicPr>
        <p:blipFill>
          <a:blip r:embed="rId1"/>
          <a:stretch>
            <a:fillRect/>
          </a:stretch>
        </p:blipFill>
        <p:spPr>
          <a:xfrm>
            <a:off x="473710" y="304165"/>
            <a:ext cx="3564890" cy="1234440"/>
          </a:xfrm>
          <a:prstGeom prst="rect">
            <a:avLst/>
          </a:prstGeom>
        </p:spPr>
      </p:pic>
      <p:grpSp>
        <p:nvGrpSpPr>
          <p:cNvPr id="4" name="组合 13"/>
          <p:cNvGrpSpPr/>
          <p:nvPr userDrawn="true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5" name="文本框 14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6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>
  <p:cSld name="FM">
    <p:bg>
      <p:bgPr>
        <a:solidFill>
          <a:schemeClr val="bg1"/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1"/>
          <p:cNvPicPr>
            <a:picLocks noChangeAspect="true"/>
          </p:cNvPicPr>
          <p:nvPr userDrawn="true"/>
        </p:nvPicPr>
        <p:blipFill rotWithShape="true">
          <a:blip r:embed="rId1" cstate="print">
            <a:alphaModFix amt="20000"/>
            <a:extLst>
              <a:ext uri="{28A0092B-C50C-407E-A947-70E740481C1C}"/>
            </a:extLst>
          </a:blip>
          <a:srcRect b="13216"/>
          <a:stretch/>
        </p:blipFill>
        <p:spPr>
          <a:xfrm>
            <a:off x="7546126" y="0"/>
            <a:ext cx="4151671" cy="5794408"/>
          </a:xfrm>
          <a:prstGeom prst="rect">
            <a:avLst/>
          </a:prstGeom>
        </p:spPr>
      </p:pic>
      <p:grpSp>
        <p:nvGrpSpPr>
          <p:cNvPr id="9" name="组合 2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10" name="文本框 3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11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图片 9"/>
          <p:cNvPicPr>
            <a:picLocks noChangeAspect="true"/>
          </p:cNvPicPr>
          <p:nvPr userDrawn="true"/>
        </p:nvPicPr>
        <p:blipFill>
          <a:blip r:embed="rId2" cstate="print">
            <a:alphaModFix amt="21000"/>
            <a:extLst>
              <a:ext uri="{28A0092B-C50C-407E-A947-70E740481C1C}"/>
            </a:extLst>
          </a:blip>
          <a:srcRect/>
          <a:stretch/>
        </p:blipFill>
        <p:spPr>
          <a:xfrm>
            <a:off x="0" y="3261146"/>
            <a:ext cx="2999678" cy="4133416"/>
          </a:xfrm>
          <a:prstGeom prst="rect">
            <a:avLst/>
          </a:prstGeom>
        </p:spPr>
      </p:pic>
      <p:pic>
        <p:nvPicPr>
          <p:cNvPr id="13" name="图片 4"/>
          <p:cNvPicPr>
            <a:picLocks noChangeAspect="true"/>
          </p:cNvPicPr>
          <p:nvPr userDrawn="true"/>
        </p:nvPicPr>
        <p:blipFill>
          <a:blip r:embed="rId3" cstate="print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48273" y="0"/>
            <a:ext cx="3483086" cy="13061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showMasterSp="false" type="title">
  <p:cSld name="1_标题幻灯片">
    <p:bg>
      <p:bgPr>
        <a:solidFill>
          <a:schemeClr val="bg1">
            <a:alpha val="0"/>
          </a:schemeClr>
        </a:solidFill>
        <a:effectLst/>
      </p:bgPr>
    </p:bg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灯片编号占位符 5"/>
          <p:cNvSpPr>
            <a:spLocks noGrp="true"/>
          </p:cNvSpPr>
          <p:nvPr>
            <p:ph type="sldNum" sz="quarter" idx="12"/>
          </p:nvPr>
        </p:nvSpPr>
        <p:spPr>
          <a:xfrm>
            <a:off x="445008" y="6356350"/>
            <a:ext cx="274320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obj">
  <p:cSld name="标题和内容">
    <p:bg>
      <p:bgPr>
        <a:solidFill>
          <a:srgbClr val="08A8F6"/>
        </a:solidFill>
        <a:effectLst/>
      </p:bgPr>
    </p:bg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5"/>
          <p:cNvSpPr>
            <a:spLocks noGrp="true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>
  <p:cSld name="节标题">
    <p:bg>
      <p:bgPr>
        <a:solidFill>
          <a:schemeClr val="bg1"/>
        </a:solidFill>
        <a:effectLst/>
      </p:bgPr>
    </p:bg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13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25" name="文本框 14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26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7" name="灯片编号占位符 5"/>
          <p:cNvSpPr>
            <a:spLocks noGrp="true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sp>
        <p:nvSpPr>
          <p:cNvPr id="28" name="文本占位符 9"/>
          <p:cNvSpPr>
            <a:spLocks noGrp="true"/>
          </p:cNvSpPr>
          <p:nvPr>
            <p:ph type="body" sz="quarter" idx="13"/>
          </p:nvPr>
        </p:nvSpPr>
        <p:spPr>
          <a:xfrm>
            <a:off x="215067" y="171415"/>
            <a:ext cx="5966068" cy="4461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zh-CN" altLang="en-US" sz="2800" b="true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lvl="0"/>
            <a:r>
              <a:rPr kumimoji="true" lang="zh-CN" altLang="en-US"/>
              <a:t>单击此处编辑母版文本</a:t>
            </a:r>
            <a:endParaRPr/>
          </a:p>
        </p:txBody>
      </p:sp>
      <p:pic>
        <p:nvPicPr>
          <p:cNvPr id="29" name="图片 1"/>
          <p:cNvPicPr>
            <a:picLocks noChangeAspect="true"/>
          </p:cNvPicPr>
          <p:nvPr userDrawn="true"/>
        </p:nvPicPr>
        <p:blipFill>
          <a:blip r:embed="rId1" cstate="print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9558425" y="0"/>
            <a:ext cx="2350420" cy="881407"/>
          </a:xfrm>
          <a:prstGeom prst="rect">
            <a:avLst/>
          </a:prstGeom>
        </p:spPr>
      </p:pic>
      <p:sp>
        <p:nvSpPr>
          <p:cNvPr id="30" name="矩形 3"/>
          <p:cNvSpPr/>
          <p:nvPr userDrawn="true"/>
        </p:nvSpPr>
        <p:spPr>
          <a:xfrm>
            <a:off x="0" y="0"/>
            <a:ext cx="12192000" cy="781177"/>
          </a:xfrm>
          <a:prstGeom prst="rect">
            <a:avLst/>
          </a:prstGeom>
          <a:solidFill>
            <a:srgbClr val="08A8F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endParaRPr kumimoji="true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>
  <p:cSld name="两栏内容">
    <p:bg>
      <p:bgPr>
        <a:solidFill>
          <a:schemeClr val="bg1"/>
        </a:solidFill>
        <a:effectLst/>
      </p:bgPr>
    </p:bg>
    <p:spTree>
      <p:nvGrpSpPr>
        <p:cNvPr id="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pic>
        <p:nvPicPr>
          <p:cNvPr id="33" name="图片 3"/>
          <p:cNvPicPr>
            <a:picLocks noChangeAspect="true"/>
          </p:cNvPicPr>
          <p:nvPr userDrawn="true"/>
        </p:nvPicPr>
        <p:blipFill rotWithShape="true">
          <a:blip r:embed="rId1" cstate="print">
            <a:alphaModFix amt="35000"/>
            <a:biLevel thresh="25000"/>
            <a:extLst>
              <a:ext uri="{28A0092B-C50C-407E-A947-70E740481C1C}"/>
            </a:extLst>
          </a:blip>
          <a:srcRect t="32381"/>
          <a:stretch/>
        </p:blipFill>
        <p:spPr>
          <a:xfrm>
            <a:off x="7482780" y="1381934"/>
            <a:ext cx="3830533" cy="4165580"/>
          </a:xfrm>
          <a:prstGeom prst="rect">
            <a:avLst/>
          </a:prstGeom>
        </p:spPr>
      </p:pic>
      <p:grpSp>
        <p:nvGrpSpPr>
          <p:cNvPr id="34" name="组合 5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35" name="文本框 10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36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37" name="图片 4"/>
          <p:cNvPicPr>
            <a:picLocks noChangeAspect="true"/>
          </p:cNvPicPr>
          <p:nvPr userDrawn="true"/>
        </p:nvPicPr>
        <p:blipFill>
          <a:blip r:embed="rId2" cstate="print">
            <a:extLst>
              <a:ext uri="{28A0092B-C50C-407E-A947-70E740481C1C}"/>
            </a:extLst>
          </a:blip>
          <a:stretch>
            <a:fillRect/>
          </a:stretch>
        </p:blipFill>
        <p:spPr>
          <a:xfrm>
            <a:off x="104478" y="0"/>
            <a:ext cx="2350420" cy="8814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type="twoTxTwoObj">
  <p:cSld name="比较">
    <p:bg>
      <p:bgPr>
        <a:solidFill>
          <a:schemeClr val="bg1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灯片编号占位符 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grpSp>
        <p:nvGrpSpPr>
          <p:cNvPr id="40" name="组合 1"/>
          <p:cNvGrpSpPr/>
          <p:nvPr userDrawn="true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41" name="文本框 2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42" name="直接连接符 15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" name="矩形 9"/>
          <p:cNvSpPr/>
          <p:nvPr userDrawn="true"/>
        </p:nvSpPr>
        <p:spPr>
          <a:xfrm>
            <a:off x="456565" y="1199515"/>
            <a:ext cx="1210588" cy="707886"/>
          </a:xfrm>
          <a:prstGeom prst="rect">
            <a:avLst/>
          </a:prstGeom>
        </p:spPr>
        <p:txBody>
          <a:bodyPr wrap="none" anchor="ctr" anchorCtr="false">
            <a:spAutoFit/>
          </a:bodyPr>
          <a:lstStyle/>
          <a:p>
            <a:pPr marL="0" marR="0" lvl="0" indent="0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false" lang="zh-CN" altLang="en-US" sz="4000" b="true" i="false" u="none" strike="noStrike" kern="1200" cap="none" spc="0" normalizeH="false" baseline="0" noProof="false" dirty="false">
                <a:ln>
                  <a:noFill/>
                </a:ln>
                <a:solidFill>
                  <a:srgbClr val="08A8F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/>
          </a:p>
        </p:txBody>
      </p:sp>
      <p:sp>
        <p:nvSpPr>
          <p:cNvPr id="44" name="文本框 10"/>
          <p:cNvSpPr txBox="true"/>
          <p:nvPr userDrawn="true"/>
        </p:nvSpPr>
        <p:spPr>
          <a:xfrm>
            <a:off x="481965" y="576640"/>
            <a:ext cx="4124959" cy="584775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fontAlgn="base">
              <a:spcBef>
                <a:spcPct val="1"/>
              </a:spcBef>
              <a:spcAft>
                <a:spcPct val="1"/>
              </a:spcAft>
              <a:defRPr/>
            </a:pPr>
            <a:r>
              <a:rPr lang="en-US" altLang="zh-CN" sz="32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CONTENTS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type="titleOnly">
  <p:cSld name="仅标题"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  <p:grpSp>
        <p:nvGrpSpPr>
          <p:cNvPr id="47" name="组合 5"/>
          <p:cNvGrpSpPr/>
          <p:nvPr userDrawn="true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48" name="文本框 6"/>
            <p:cNvSpPr txBox="true"/>
            <p:nvPr userDrawn="true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false">
              <a:spAutoFit/>
            </a:bodyPr>
            <a:lstStyle/>
            <a:p>
              <a:pPr marL="0" algn="l" defTabSz="914400" rtl="false" eaLnBrk="true" latinLnBrk="false" hangingPunct="true">
                <a:lnSpc>
                  <a:spcPct val="130000"/>
                </a:lnSpc>
              </a:pPr>
              <a:r>
                <a:rPr lang="zh-CN" altLang="en-US" sz="1400" kern="1200" dirty="false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false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/>
            </a:p>
          </p:txBody>
        </p:sp>
        <p:cxnSp>
          <p:nvCxnSpPr>
            <p:cNvPr id="49" name="直接连接符 7"/>
            <p:cNvCxnSpPr/>
            <p:nvPr userDrawn="true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type="blank">
  <p:cSld name="空白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type="picTx">
  <p:cSld name="图片与标题"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FABC47A4-756D-490B-A52F-7D9E2C9FC05F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type="vertTitleAndTx">
  <p:cSld name="竖排标题与文本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>
  <p:cSld name="内容"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p="http://schemas.openxmlformats.org/presentationml/2006/main">
  <p:cSld name="Title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00A6F9"/>
            </a:gs>
            <a:gs pos="100000">
              <a:srgbClr val="81BD0A"/>
            </a:gs>
          </a:gsLst>
          <a:lin ang="0" scaled="false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true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false" anchor="ctr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Source Han Sans CN Normal" panose="020B0800000000000000" charset="-122"/>
                <a:ea typeface="Source Han Sans CN Normal" panose="020B0800000000000000" charset="-122"/>
              </a:defRPr>
            </a:lvl1pPr>
          </a:lstStyle>
          <a:p>
            <a:pPr/>
            <a:fld id="{49AE70B2-8BF9-45C0-BB95-33D1B9D3A854}" type="slidenum">
              <a:rPr lang="zh-CN" altLang="en-US" smtClean="false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hdr="false" ftr="false" dt="false"/>
  <p:txStyles>
    <p:titleStyle>
      <a:lvl1pPr algn="l" defTabSz="914400" rtl="false" eaLnBrk="true" latinLnBrk="false" hangingPunct="true">
        <a:lnSpc>
          <a:spcPct val="90000"/>
        </a:lnSpc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false" eaLnBrk="true" latinLnBrk="false" hangingPunct="true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false" eaLnBrk="true" latinLnBrk="false" hangingPunct="true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false" eaLnBrk="true" latinLnBrk="false" hangingPunct="true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4.xml"/><Relationship Id="rId1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true"/>
          <p:nvPr/>
        </p:nvSpPr>
        <p:spPr>
          <a:xfrm>
            <a:off x="3417888" y="5226665"/>
            <a:ext cx="5356225" cy="701346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algn="ctr"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en-US" altLang="zh-CN" sz="1600" dirty="false" err="tru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PolicyLoop 门禁团队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/>
            </a:r>
            <a:endParaRPr lang="en-US" altLang="zh-CN" sz="16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algn="ctr" fontAlgn="base">
              <a:lnSpc>
                <a:spcPct val="130000"/>
              </a:lnSpc>
              <a:spcBef>
                <a:spcPct val="1"/>
              </a:spcBef>
              <a:spcAft>
                <a:spcPct val="1"/>
              </a:spcAft>
            </a:pP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2026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年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10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月</a:t>
            </a:r>
            <a:r>
              <a:rPr lang="en-US" altLang="zh-CN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20</a:t>
            </a:r>
            <a:r>
              <a:rPr lang="zh-CN" altLang="en-US" sz="1600" dirty="false"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日</a:t>
            </a:r>
            <a:endParaRPr lang="zh-CN" altLang="en-US" sz="1400" dirty="false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" name="文本框 6"/>
          <p:cNvSpPr txBox="true"/>
          <p:nvPr/>
        </p:nvSpPr>
        <p:spPr>
          <a:xfrm>
            <a:off x="869656" y="1706953"/>
            <a:ext cx="10830508" cy="830997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algn="ctr" fontAlgn="base">
              <a:spcBef>
                <a:spcPct val="1"/>
              </a:spcBef>
              <a:spcAft>
                <a:spcPct val="1"/>
              </a:spcAft>
              <a:defRPr/>
            </a:pPr>
            <a:r>
              <a:rPr lang="en-US" altLang="zh-CN" sz="48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2026</a:t>
            </a:r>
            <a:r>
              <a:rPr lang="zh-CN" altLang="en-US" sz="48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开源鸿蒙大学生创新大赛</a:t>
            </a:r>
            <a:r>
              <a:rPr lang="en-US" altLang="zh-CN" sz="48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-</a:t>
            </a:r>
            <a:r>
              <a:rPr lang="zh-CN" altLang="en-US" sz="4800" b="true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赛道一</a:t>
            </a:r>
            <a:endParaRPr lang="en-US" altLang="zh-CN" sz="4800" b="true" dirty="false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sp>
        <p:nvSpPr>
          <p:cNvPr id="4" name="文本框 10"/>
          <p:cNvSpPr txBox="true"/>
          <p:nvPr/>
        </p:nvSpPr>
        <p:spPr>
          <a:xfrm>
            <a:off x="3232175" y="2868089"/>
            <a:ext cx="5727650" cy="523220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algn="ctr" fontAlgn="base">
              <a:spcBef>
                <a:spcPct val="1"/>
              </a:spcBef>
              <a:spcAft>
                <a:spcPct val="1"/>
              </a:spcAft>
              <a:defRPr/>
            </a:pPr>
            <a:r>
              <a:rPr lang="en-US" altLang="zh-CN" sz="2800" dirty="false" err="tru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PolicyLoop</a:t>
            </a:r>
            <a:r>
              <a:rPr lang="zh-CN" altLang="en-US" sz="2800" dirty="false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：SELinux 拒绝日志的最小权限自收敛</a:t>
            </a:r>
            <a:endParaRPr lang="en-US" altLang="zh-CN" sz="2800" dirty="false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26"/>
          <p:cNvSpPr/>
          <p:nvPr/>
        </p:nvSpPr>
        <p:spPr>
          <a:xfrm>
            <a:off x="2741964" y="213821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/>
          </a:p>
        </p:txBody>
      </p:sp>
      <p:sp>
        <p:nvSpPr>
          <p:cNvPr id="7" name="圆角矩形 27"/>
          <p:cNvSpPr/>
          <p:nvPr/>
        </p:nvSpPr>
        <p:spPr>
          <a:xfrm>
            <a:off x="3585244" y="3076107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noProof="false" dirty="false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设计与实现</a:t>
            </a:r>
            <a:r>
              <a:rPr lang="en-US" altLang="zh-CN" sz="2400" b="true" noProof="false" dirty="false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/>
            </a:r>
            <a:endParaRPr/>
          </a:p>
        </p:txBody>
      </p:sp>
      <p:sp>
        <p:nvSpPr>
          <p:cNvPr id="8" name="圆角矩形 28"/>
          <p:cNvSpPr/>
          <p:nvPr/>
        </p:nvSpPr>
        <p:spPr>
          <a:xfrm>
            <a:off x="2734344" y="3063407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/>
          </a:p>
        </p:txBody>
      </p:sp>
      <p:sp>
        <p:nvSpPr>
          <p:cNvPr id="9" name="圆角矩形 29"/>
          <p:cNvSpPr/>
          <p:nvPr/>
        </p:nvSpPr>
        <p:spPr>
          <a:xfrm>
            <a:off x="3585244" y="400130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noProof="false" dirty="false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实测与边界</a:t>
            </a:r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/>
            </a:r>
            <a:endParaRPr lang="en-US" altLang="zh-CN" sz="2400" b="true" noProof="false" dirty="false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0" name="圆角矩形 30"/>
          <p:cNvSpPr/>
          <p:nvPr/>
        </p:nvSpPr>
        <p:spPr>
          <a:xfrm>
            <a:off x="2734344" y="3988602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false" anchor="ctr"/>
          <a:lstStyle/>
          <a:p>
            <a:pPr algn="ctr"/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/>
          </a:p>
        </p:txBody>
      </p:sp>
      <p:sp>
        <p:nvSpPr>
          <p:cNvPr id="11" name="圆角矩形 44"/>
          <p:cNvSpPr/>
          <p:nvPr/>
        </p:nvSpPr>
        <p:spPr>
          <a:xfrm>
            <a:off x="3597944" y="2138212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false" anchor="ctr" anchorCtr="false"/>
          <a:lstStyle/>
          <a:p>
            <a:pPr marL="0" marR="0" lvl="0" indent="0" algn="l" defTabSz="914400" rtl="false" eaLnBrk="true" fontAlgn="ctr" latinLnBrk="false" hangingPunct="true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问题与目标</a:t>
            </a:r>
            <a:r>
              <a:rPr lang="en-US" altLang="zh-CN" sz="2400" b="true" dirty="false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/>
            </a:r>
            <a:endParaRPr/>
          </a:p>
        </p:txBody>
      </p:sp>
      <p:sp>
        <p:nvSpPr>
          <p:cNvPr id="12" name="灯片编号占位符 2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2</a:t>
            </a:fld>
            <a:endParaRPr lang="zh-CN" altLang="en-US"/>
          </a:p>
        </p:txBody>
      </p:sp>
      <p:sp>
        <p:nvSpPr>
          <p:cNvPr id="13" name="Rounded Rectangle 12"/>
          <p:cNvSpPr/>
          <p:nvPr/>
        </p:nvSpPr>
        <p:spPr>
          <a:xfrm>
            <a:off x="3611880" y="4983480"/>
            <a:ext cx="6903720" cy="640080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78B4"/>
                </a:solidFill>
                <a:latin typeface="微软雅黑"/>
                <a:ea typeface="微软雅黑"/>
              </a:rPr>
              <a:t>denial → 七个 Agent → 最小补丁 → 真机闭环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rgbClr val="08A8F6"/>
        </a:solidFill>
        <a:effectLst/>
      </p:bgPr>
    </p:bg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文本框 8"/>
          <p:cNvSpPr txBox="true"/>
          <p:nvPr/>
        </p:nvSpPr>
        <p:spPr>
          <a:xfrm>
            <a:off x="3557237" y="1942121"/>
            <a:ext cx="5077527" cy="1107996"/>
          </a:xfrm>
          <a:prstGeom prst="rect">
            <a:avLst/>
          </a:prstGeom>
          <a:noFill/>
        </p:spPr>
        <p:txBody>
          <a:bodyPr wrap="square" rtlCol="false">
            <a:spAutoFit/>
          </a:bodyPr>
          <a:lstStyle/>
          <a:p>
            <a:pPr marL="0" marR="0" lvl="0" indent="0" algn="ctr" defTabSz="914400" rtl="false" eaLnBrk="true" fontAlgn="base" latinLnBrk="false" hangingPunct="true">
              <a:lnSpc>
                <a:spcPct val="100000"/>
              </a:lnSpc>
              <a:spcBef>
                <a:spcPct val="1"/>
              </a:spcBef>
              <a:spcAft>
                <a:spcPct val="1"/>
              </a:spcAft>
              <a:buClrTx/>
              <a:buSzTx/>
              <a:buFontTx/>
              <a:buNone/>
              <a:defRPr/>
            </a:pPr>
            <a:r>
              <a:rPr kumimoji="false" lang="zh-CN" altLang="en-US" sz="6600" b="true" i="false" u="none" strike="noStrike" kern="1200" cap="none" spc="0" normalizeH="false" baseline="0" noProof="false" dirty="false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armonyOS Sans" panose="00000800000000000000" charset="0"/>
              </a:rPr>
              <a:t>谢  谢</a:t>
            </a:r>
            <a:endParaRPr kumimoji="false" lang="en-US" altLang="zh-CN" sz="6600" b="true" i="false" u="none" strike="noStrike" kern="1200" cap="none" spc="0" normalizeH="false" baseline="0" noProof="false" dirty="false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armonyOS Sans" panose="00000800000000000000" charset="0"/>
            </a:endParaRPr>
          </a:p>
        </p:txBody>
      </p:sp>
      <p:sp>
        <p:nvSpPr>
          <p:cNvPr id="18" name="灯片编号占位符 2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pPr/>
            <a:fld id="{49AE70B2-8BF9-45C0-BB95-33D1B9D3A854}" type="slidenum">
              <a:rPr lang="zh-CN" altLang="en-US" smtClean="false"/>
              <a:t>4</a:t>
            </a:fld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一条 denial，卡住三件事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3593592" cy="196596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0F1423"/>
                </a:solidFill>
                <a:latin typeface="微软雅黑"/>
                <a:ea typeface="微软雅黑"/>
              </a:rPr>
              <a:t>读不懂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scontext / tcontext / tclass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是一套自成体系的词汇。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325880"/>
            <a:ext cx="3593592" cy="196596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0F1423"/>
                </a:solidFill>
                <a:latin typeface="微软雅黑"/>
                <a:ea typeface="微软雅黑"/>
              </a:rPr>
              <a:t>找不准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1,315 个 .te 文件按子系统分目录，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该落在哪靠经验。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92440" y="1325880"/>
            <a:ext cx="3593592" cy="196596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0F1423"/>
                </a:solidFill>
                <a:latin typeface="微软雅黑"/>
                <a:ea typeface="微软雅黑"/>
              </a:rPr>
              <a:t>补不对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见 denial 就加 allow，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把越权固化成永久授权。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566160"/>
            <a:ext cx="11185855" cy="685800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微软雅黑"/>
                <a:ea typeface="微软雅黑"/>
              </a:rPr>
              <a:t>常见应对：把门禁关成 permissive —— 系统正常了，门没有了。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434840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78B4"/>
                </a:solidFill>
                <a:latin typeface="微软雅黑"/>
                <a:ea typeface="微软雅黑"/>
              </a:rPr>
              <a:t>上游策略仓库一次全量统计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006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078B4"/>
                </a:solidFill>
                <a:latin typeface="微软雅黑"/>
                <a:ea typeface="微软雅黑"/>
              </a:rPr>
              <a:t>1,315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个 .te 文件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8415" y="48006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078B4"/>
                </a:solidFill>
                <a:latin typeface="微软雅黑"/>
                <a:ea typeface="微软雅黑"/>
              </a:rPr>
              <a:t>51,427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行策略源码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48006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078B4"/>
                </a:solidFill>
                <a:latin typeface="微软雅黑"/>
                <a:ea typeface="微软雅黑"/>
              </a:rPr>
              <a:t>5,230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条历史 denial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408" y="4800600"/>
            <a:ext cx="265176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078B4"/>
                </a:solidFill>
                <a:latin typeface="微软雅黑"/>
                <a:ea typeface="微软雅黑"/>
              </a:rPr>
              <a:t>21,824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条索引规则</a:t>
            </a:r>
          </a:p>
        </p:txBody>
      </p:sp>
      <p:sp>
        <p:nvSpPr>
          <p:cNvPr id="3" name="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3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记住这三件事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别的方案给不出这三个数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593592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5400" b="1">
                <a:solidFill>
                  <a:srgbClr val="0078B4"/>
                </a:solidFill>
                <a:latin typeface="微软雅黑"/>
                <a:ea typeface="微软雅黑"/>
              </a:rPr>
              <a:t>0 误报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423"/>
                </a:solidFill>
                <a:latin typeface="微软雅黑"/>
                <a:ea typeface="微软雅黑"/>
              </a:rPr>
              <a:t>5,161 条真实日志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自动补丁零误报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371600"/>
            <a:ext cx="3593592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5400" b="1">
                <a:solidFill>
                  <a:srgbClr val="0078B4"/>
                </a:solidFill>
                <a:latin typeface="微软雅黑"/>
                <a:ea typeface="微软雅黑"/>
              </a:rPr>
              <a:t>2.98 MB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423"/>
                </a:solidFill>
                <a:latin typeface="微软雅黑"/>
                <a:ea typeface="微软雅黑"/>
              </a:rPr>
              <a:t>27,912 条查询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两端输出逐字节相同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371600"/>
            <a:ext cx="3593592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5400" b="1">
                <a:solidFill>
                  <a:srgbClr val="3EA65B"/>
                </a:solidFill>
                <a:latin typeface="微软雅黑"/>
                <a:ea typeface="微软雅黑"/>
              </a:rPr>
              <a:t>0 条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423"/>
                </a:solidFill>
                <a:latin typeface="微软雅黑"/>
                <a:ea typeface="微软雅黑"/>
              </a:rPr>
              <a:t>1,580 条转人工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真正要补权限 0 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11185855" cy="731520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难点不在写规则，而在敢让它自动写 —— 守门把「敢」变成可验证。</a:t>
            </a:r>
          </a:p>
        </p:txBody>
      </p:sp>
      <p:sp>
        <p:nvSpPr>
          <p:cNvPr id="4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4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只回答一个问题：该不该放行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和「看到 denial 就放行」的区别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1118585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800" b="0">
                <a:solidFill>
                  <a:srgbClr val="5B6474"/>
                </a:solidFill>
                <a:latin typeface="微软雅黑"/>
                <a:ea typeface="微软雅黑"/>
              </a:rPr>
              <a:t>看到 denial 就加 allow</a:t>
            </a:r>
            <a:r>
              <a:rPr sz="1800" b="1">
                <a:solidFill>
                  <a:srgbClr val="8A93A3"/>
                </a:solidFill>
                <a:latin typeface="微软雅黑"/>
                <a:ea typeface="微软雅黑"/>
              </a:rPr>
              <a:t>   →   </a:t>
            </a:r>
            <a:r>
              <a:rPr sz="1900" b="1">
                <a:solidFill>
                  <a:srgbClr val="0078B4"/>
                </a:solidFill>
                <a:latin typeface="微软雅黑"/>
                <a:ea typeface="微软雅黑"/>
              </a:rPr>
              <a:t>先问：撞不撞系统红线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06040"/>
            <a:ext cx="1118585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800" b="0">
                <a:solidFill>
                  <a:srgbClr val="5B6474"/>
                </a:solidFill>
                <a:latin typeface="微软雅黑"/>
                <a:ea typeface="微软雅黑"/>
              </a:rPr>
              <a:t>加一条能通的规则</a:t>
            </a:r>
            <a:r>
              <a:rPr sz="1800" b="1">
                <a:solidFill>
                  <a:srgbClr val="8A93A3"/>
                </a:solidFill>
                <a:latin typeface="微软雅黑"/>
                <a:ea typeface="微软雅黑"/>
              </a:rPr>
              <a:t>   →   </a:t>
            </a:r>
            <a:r>
              <a:rPr sz="1900" b="1">
                <a:solidFill>
                  <a:srgbClr val="0078B4"/>
                </a:solidFill>
                <a:latin typeface="微软雅黑"/>
                <a:ea typeface="微软雅黑"/>
              </a:rPr>
              <a:t>再问：最小的那条是什么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840480"/>
            <a:ext cx="1118585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/>
            <a:r>
              <a:rPr sz="1800" b="0">
                <a:solidFill>
                  <a:srgbClr val="5B6474"/>
                </a:solidFill>
                <a:latin typeface="微软雅黑"/>
                <a:ea typeface="微软雅黑"/>
              </a:rPr>
              <a:t>denial 消失就算修好</a:t>
            </a:r>
            <a:r>
              <a:rPr sz="1800" b="1">
                <a:solidFill>
                  <a:srgbClr val="8A93A3"/>
                </a:solidFill>
                <a:latin typeface="微软雅黑"/>
                <a:ea typeface="微软雅黑"/>
              </a:rPr>
              <a:t>   →   </a:t>
            </a:r>
            <a:r>
              <a:rPr sz="1900" b="1">
                <a:solidFill>
                  <a:srgbClr val="0078B4"/>
                </a:solidFill>
                <a:latin typeface="微软雅黑"/>
                <a:ea typeface="微软雅黑"/>
              </a:rPr>
              <a:t>最后：真消除，且无回归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57800"/>
            <a:ext cx="11185855" cy="685800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78B4"/>
                </a:solidFill>
                <a:latin typeface="微软雅黑"/>
                <a:ea typeface="微软雅黑"/>
              </a:rPr>
              <a:t>验收可量化：覆盖率 · 最小性 · 零越权 · 两端逐字节一致</a:t>
            </a:r>
          </a:p>
        </p:txBody>
      </p:sp>
      <p:sp>
        <p:nvSpPr>
          <p:cNvPr id="5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5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总体架构：主机端重、设备端轻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L1 内核  →  L2 评测  →  L3 流水线  →  L4 设备端</a:t>
            </a:r>
          </a:p>
        </p:txBody>
      </p:sp>
      <p:pic>
        <p:nvPicPr>
          <p:cNvPr id="4" name="Picture 3" descr="fig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2795" y="1261872"/>
            <a:ext cx="7046105" cy="39776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440680"/>
            <a:ext cx="11185855" cy="640080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78B4"/>
                </a:solidFill>
                <a:latin typeface="微软雅黑"/>
                <a:ea typeface="微软雅黑"/>
              </a:rPr>
              <a:t>两侧只通过一条窄接口相连：PLI 只读索引 + JSON / TSV 判定结果</a:t>
            </a:r>
          </a:p>
        </p:txBody>
      </p:sp>
      <p:sp>
        <p:nvSpPr>
          <p:cNvPr id="6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6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四条原则，一条底线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所有安全决策都由规则做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5349240" cy="182880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200"/>
              </a:spcAft>
            </a:pPr>
            <a:r>
              <a:rPr sz="2100" b="1">
                <a:solidFill>
                  <a:srgbClr val="0F1423"/>
                </a:solidFill>
                <a:latin typeface="微软雅黑"/>
                <a:ea typeface="微软雅黑"/>
              </a:rPr>
              <a:t>① 确定性内核优先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B6474"/>
                </a:solidFill>
                <a:latin typeface="微软雅黑"/>
                <a:ea typeface="微软雅黑"/>
              </a:rPr>
              <a:t>安全决策全是规则，LLM 只写解释。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08192" y="1325880"/>
            <a:ext cx="5349240" cy="182880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200"/>
              </a:spcAft>
            </a:pPr>
            <a:r>
              <a:rPr sz="2100" b="1">
                <a:solidFill>
                  <a:srgbClr val="0F1423"/>
                </a:solidFill>
                <a:latin typeface="微软雅黑"/>
                <a:ea typeface="微软雅黑"/>
              </a:rPr>
              <a:t>② 绝不自动写盘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B6474"/>
                </a:solidFill>
                <a:latin typeface="微软雅黑"/>
                <a:ea typeface="微软雅黑"/>
              </a:rPr>
              <a:t>只出建议补丁，写盘由人决定。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37560"/>
            <a:ext cx="5349240" cy="182880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200"/>
              </a:spcAft>
            </a:pPr>
            <a:r>
              <a:rPr sz="2100" b="1">
                <a:solidFill>
                  <a:srgbClr val="0F1423"/>
                </a:solidFill>
                <a:latin typeface="微软雅黑"/>
                <a:ea typeface="微软雅黑"/>
              </a:rPr>
              <a:t>③ 先仿真，后真机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B6474"/>
                </a:solidFill>
                <a:latin typeface="微软雅黑"/>
                <a:ea typeface="微软雅黑"/>
              </a:rPr>
              <a:t>上游语料量化，再上板取独立证据。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08192" y="3337560"/>
            <a:ext cx="5349240" cy="182880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200"/>
              </a:spcAft>
            </a:pPr>
            <a:r>
              <a:rPr sz="2100" b="1">
                <a:solidFill>
                  <a:srgbClr val="0F1423"/>
                </a:solidFill>
                <a:latin typeface="微软雅黑"/>
                <a:ea typeface="微软雅黑"/>
              </a:rPr>
              <a:t>④ 设备端只搬一段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B6474"/>
                </a:solidFill>
                <a:latin typeface="微软雅黑"/>
                <a:ea typeface="微软雅黑"/>
              </a:rPr>
              <a:t>要读 kmsg、要脱离 PC 的才下沉。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94960"/>
            <a:ext cx="11185855" cy="621792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底线：安全决策永不交给模型。</a:t>
            </a:r>
          </a:p>
        </p:txBody>
      </p:sp>
      <p:sp>
        <p:nvSpPr>
          <p:cNvPr id="7" name="灯片编号占位符 7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7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设备端为什么不能「自己推策略」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两个实测事实，逼出一条架构约束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5440680" cy="178308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0F1423"/>
                </a:solidFill>
                <a:latin typeface="微软雅黑"/>
                <a:ea typeface="微软雅黑"/>
              </a:rPr>
              <a:t>设备上没有 .te 源码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只剩 policy.31（424,699 B）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与 *_contexts。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291839"/>
            <a:ext cx="5440680" cy="178308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0F1423"/>
                </a:solidFill>
                <a:latin typeface="微软雅黑"/>
                <a:ea typeface="微软雅黑"/>
              </a:rPr>
              <a:t>红线不在二进制策略里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neverallow 是编译期断言，</a:t>
            </a:r>
          </a:p>
          <a:p>
            <a:pPr algn="l">
              <a:lnSpc>
                <a:spcPct val="130000"/>
              </a:lnSpc>
              <a:spcBef>
                <a:spcPts val="20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不写进产物。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425135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54C5E"/>
                </a:solidFill>
                <a:latin typeface="微软雅黑"/>
                <a:ea typeface="微软雅黑"/>
              </a:rPr>
              <a:t>拿不到红线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240280"/>
            <a:ext cx="5425135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54C5E"/>
                </a:solidFill>
                <a:latin typeface="微软雅黑"/>
                <a:ea typeface="微软雅黑"/>
              </a:rPr>
              <a:t>→ 只能「见 denial 就放行」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154680"/>
            <a:ext cx="5425135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54C5E"/>
                </a:solidFill>
                <a:latin typeface="微软雅黑"/>
                <a:ea typeface="微软雅黑"/>
              </a:rPr>
              <a:t>→ 正是最该避免的行为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4069080"/>
            <a:ext cx="5425135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78B4"/>
                </a:solidFill>
                <a:latin typeface="微软雅黑"/>
                <a:ea typeface="微软雅黑"/>
              </a:rPr>
              <a:t>→ 索引必须构建期导出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85855" cy="640080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570 条红线索引可见 430 条；缺口由部署期 secilc 断言补第二道</a:t>
            </a:r>
          </a:p>
        </p:txBody>
      </p:sp>
      <p:sp>
        <p:nvSpPr>
          <p:cNvPr id="8" name="灯片编号占位符 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8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七个 Agent，一条单向链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每步输入输出都是可打印的结构化字段</a:t>
            </a:r>
          </a:p>
        </p:txBody>
      </p:sp>
      <p:pic>
        <p:nvPicPr>
          <p:cNvPr id="4" name="Picture 3" descr="fig2-agent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269" y="1207008"/>
            <a:ext cx="8605157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230368"/>
            <a:ext cx="1118585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F1423"/>
                </a:solidFill>
                <a:latin typeface="微软雅黑"/>
                <a:ea typeface="微软雅黑"/>
              </a:rPr>
              <a:t>CrossLayerAgent 只读：加不加它，结论不变。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F1423"/>
                </a:solidFill>
                <a:latin typeface="微软雅黑"/>
                <a:ea typeface="微软雅黑"/>
              </a:rPr>
              <a:t>流水线没有回路：Verify 失败直接转人工。</a:t>
            </a:r>
          </a:p>
        </p:txBody>
      </p:sp>
      <p:sp>
        <p:nvSpPr>
          <p:cNvPr id="9" name="灯片编号占位符 9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9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五道拒绝点：不猜、不宽、不放红线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与设备端共用同一份守门实现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54864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2200" b="1">
                <a:solidFill>
                  <a:srgbClr val="00B0F0"/>
                </a:solidFill>
                <a:latin typeface="微软雅黑"/>
                <a:ea typeface="微软雅黑"/>
              </a:rPr>
              <a:t>1  </a:t>
            </a:r>
            <a:r>
              <a:rPr sz="1700" b="1">
                <a:solidFill>
                  <a:srgbClr val="0F1423"/>
                </a:solidFill>
                <a:latin typeface="微软雅黑"/>
                <a:ea typeface="微软雅黑"/>
              </a:rPr>
              <a:t>撞 neverallow</a:t>
            </a:r>
            <a:r>
              <a:rPr sz="1600" b="1">
                <a:solidFill>
                  <a:srgbClr val="8A93A3"/>
                </a:solidFill>
                <a:latin typeface="微软雅黑"/>
                <a:ea typeface="微软雅黑"/>
              </a:rPr>
              <a:t>  →  </a:t>
            </a:r>
            <a:r>
              <a:rPr sz="1700" b="0">
                <a:solidFill>
                  <a:srgbClr val="5B6474"/>
                </a:solidFill>
                <a:latin typeface="微软雅黑"/>
                <a:ea typeface="微软雅黑"/>
              </a:rPr>
              <a:t>转人工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2200" b="1">
                <a:solidFill>
                  <a:srgbClr val="00B0F0"/>
                </a:solidFill>
                <a:latin typeface="微软雅黑"/>
                <a:ea typeface="微软雅黑"/>
              </a:rPr>
              <a:t>2  </a:t>
            </a:r>
            <a:r>
              <a:rPr sz="1700" b="1">
                <a:solidFill>
                  <a:srgbClr val="0F1423"/>
                </a:solidFill>
                <a:latin typeface="微软雅黑"/>
                <a:ea typeface="微软雅黑"/>
              </a:rPr>
              <a:t>解析后仍不许</a:t>
            </a:r>
            <a:r>
              <a:rPr sz="1600" b="1">
                <a:solidFill>
                  <a:srgbClr val="8A93A3"/>
                </a:solidFill>
                <a:latin typeface="微软雅黑"/>
                <a:ea typeface="微软雅黑"/>
              </a:rPr>
              <a:t>  →  </a:t>
            </a:r>
            <a:r>
              <a:rPr sz="1700" b="0">
                <a:solidFill>
                  <a:srgbClr val="5B6474"/>
                </a:solidFill>
                <a:latin typeface="微软雅黑"/>
                <a:ea typeface="微软雅黑"/>
              </a:rPr>
              <a:t>拒发补丁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2200" b="1">
                <a:solidFill>
                  <a:srgbClr val="00B0F0"/>
                </a:solidFill>
                <a:latin typeface="微软雅黑"/>
                <a:ea typeface="微软雅黑"/>
              </a:rPr>
              <a:t>3  </a:t>
            </a:r>
            <a:r>
              <a:rPr sz="1700" b="1">
                <a:solidFill>
                  <a:srgbClr val="0F1423"/>
                </a:solidFill>
                <a:latin typeface="微软雅黑"/>
                <a:ea typeface="微软雅黑"/>
              </a:rPr>
              <a:t>占位符未解析</a:t>
            </a:r>
            <a:r>
              <a:rPr sz="1600" b="1">
                <a:solidFill>
                  <a:srgbClr val="8A93A3"/>
                </a:solidFill>
                <a:latin typeface="微软雅黑"/>
                <a:ea typeface="微软雅黑"/>
              </a:rPr>
              <a:t>  →  </a:t>
            </a:r>
            <a:r>
              <a:rPr sz="1700" b="0">
                <a:solidFill>
                  <a:srgbClr val="5B6474"/>
                </a:solidFill>
                <a:latin typeface="微软雅黑"/>
                <a:ea typeface="微软雅黑"/>
              </a:rPr>
              <a:t>不猜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2200" b="1">
                <a:solidFill>
                  <a:srgbClr val="00B0F0"/>
                </a:solidFill>
                <a:latin typeface="微软雅黑"/>
                <a:ea typeface="微软雅黑"/>
              </a:rPr>
              <a:t>4  </a:t>
            </a:r>
            <a:r>
              <a:rPr sz="1700" b="1">
                <a:solidFill>
                  <a:srgbClr val="0F1423"/>
                </a:solidFill>
                <a:latin typeface="微软雅黑"/>
                <a:ea typeface="微软雅黑"/>
              </a:rPr>
              <a:t>过宽 / 危险模式</a:t>
            </a:r>
            <a:r>
              <a:rPr sz="1600" b="1">
                <a:solidFill>
                  <a:srgbClr val="8A93A3"/>
                </a:solidFill>
                <a:latin typeface="微软雅黑"/>
                <a:ea typeface="微软雅黑"/>
              </a:rPr>
              <a:t>  →  </a:t>
            </a:r>
            <a:r>
              <a:rPr sz="1700" b="0">
                <a:solidFill>
                  <a:srgbClr val="5B6474"/>
                </a:solidFill>
                <a:latin typeface="微软雅黑"/>
                <a:ea typeface="微软雅黑"/>
              </a:rPr>
              <a:t>拦截</a:t>
            </a:r>
          </a:p>
          <a:p>
            <a:pPr>
              <a:lnSpc>
                <a:spcPct val="115000"/>
              </a:lnSpc>
              <a:spcBef>
                <a:spcPts val="1400"/>
              </a:spcBef>
            </a:pPr>
            <a:r>
              <a:rPr sz="2200" b="1">
                <a:solidFill>
                  <a:srgbClr val="00B0F0"/>
                </a:solidFill>
                <a:latin typeface="微软雅黑"/>
                <a:ea typeface="微软雅黑"/>
              </a:rPr>
              <a:t>5  </a:t>
            </a:r>
            <a:r>
              <a:rPr sz="1700" b="1">
                <a:solidFill>
                  <a:srgbClr val="0F1423"/>
                </a:solidFill>
                <a:latin typeface="微软雅黑"/>
                <a:ea typeface="微软雅黑"/>
              </a:rPr>
              <a:t>未验证消除与回归</a:t>
            </a:r>
            <a:r>
              <a:rPr sz="1600" b="1">
                <a:solidFill>
                  <a:srgbClr val="8A93A3"/>
                </a:solidFill>
                <a:latin typeface="微软雅黑"/>
                <a:ea typeface="微软雅黑"/>
              </a:rPr>
              <a:t>  →  </a:t>
            </a:r>
            <a:r>
              <a:rPr sz="1700" b="0">
                <a:solidFill>
                  <a:srgbClr val="5B6474"/>
                </a:solidFill>
                <a:latin typeface="微软雅黑"/>
                <a:ea typeface="微软雅黑"/>
              </a:rPr>
              <a:t>不通过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五道各堵一类失败。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298448"/>
            <a:ext cx="5287975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0F1423"/>
                </a:solidFill>
                <a:latin typeface="微软雅黑"/>
                <a:ea typeface="微软雅黑"/>
              </a:rPr>
              <a:t>典型反例：只差一个命令号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ioctl 大类已允许，缺的只是 0x8014。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1">
                <a:solidFill>
                  <a:srgbClr val="0078B4"/>
                </a:solidFill>
                <a:latin typeface="微软雅黑"/>
                <a:ea typeface="微软雅黑"/>
              </a:rPr>
              <a:t>allowxperm render_service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78B4"/>
                </a:solidFill>
                <a:latin typeface="微软雅黑"/>
                <a:ea typeface="微软雅黑"/>
              </a:rPr>
              <a:t>dev_mali:chr_file ioctl { 0x8014 };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上游后来真的加了这一行。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658368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78B4"/>
                </a:solidFill>
                <a:latin typeface="微软雅黑"/>
                <a:ea typeface="微软雅黑"/>
              </a:rPr>
              <a:t>六道 apply_guards：MLS 级目标 / 占位符 / 目标不在语料 / 类不在语料 / 非权限名 / 空权限</a:t>
            </a:r>
          </a:p>
        </p:txBody>
      </p:sp>
      <p:sp>
        <p:nvSpPr>
          <p:cNvPr id="10" name="灯片编号占位符 10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10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一份日志，4.16 秒出清单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python -m policy_loop.converge</a:t>
            </a:r>
          </a:p>
        </p:txBody>
      </p:sp>
      <p:pic>
        <p:nvPicPr>
          <p:cNvPr id="4" name="Picture 3" descr="fig3-converg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31620"/>
            <a:ext cx="6766560" cy="3383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80960" y="1325880"/>
            <a:ext cx="4007815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0078B4"/>
                </a:solidFill>
                <a:latin typeface="微软雅黑"/>
                <a:ea typeface="微软雅黑"/>
              </a:rPr>
              <a:t>5,161 → 4,911  </a:t>
            </a: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日志行 → 唯一案例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2331720"/>
            <a:ext cx="4007815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8A93A3"/>
                </a:solidFill>
                <a:latin typeface="微软雅黑"/>
                <a:ea typeface="微软雅黑"/>
              </a:rPr>
              <a:t>3,261  </a:t>
            </a: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噪声 / 已被允许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3337560"/>
            <a:ext cx="4007815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3EA65B"/>
                </a:solidFill>
                <a:latin typeface="微软雅黑"/>
                <a:ea typeface="微软雅黑"/>
              </a:rPr>
              <a:t>70  </a:t>
            </a: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可自动补丁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4343400"/>
            <a:ext cx="4007815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EE822F"/>
                </a:solidFill>
                <a:latin typeface="微软雅黑"/>
                <a:ea typeface="微软雅黑"/>
              </a:rPr>
              <a:t>1,580  </a:t>
            </a: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转人工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5855" cy="640080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全量零误报进入自动项；转人工是主动拒绝越权</a:t>
            </a:r>
          </a:p>
        </p:txBody>
      </p:sp>
      <p:sp>
        <p:nvSpPr>
          <p:cNvPr id="11" name="灯片编号占位符 1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补丁 69 行 → 54 条根因规则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先最小化，再套回索引反验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078B4"/>
                </a:solidFill>
                <a:latin typeface="微软雅黑"/>
                <a:ea typeface="微软雅黑"/>
              </a:rPr>
              <a:t>69 → 54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补丁行数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8415" y="137160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078B4"/>
                </a:solidFill>
                <a:latin typeface="微软雅黑"/>
                <a:ea typeface="微软雅黑"/>
              </a:rPr>
              <a:t>10 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根因归并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3912" y="137160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3EA65B"/>
                </a:solidFill>
                <a:latin typeface="微软雅黑"/>
                <a:ea typeface="微软雅黑"/>
              </a:rPr>
              <a:t>70 → 0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闭环反验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79408" y="137160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3EA65B"/>
                </a:solidFill>
                <a:latin typeface="微软雅黑"/>
                <a:ea typeface="微软雅黑"/>
              </a:rPr>
              <a:t>0 残留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归因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63240"/>
            <a:ext cx="11185855" cy="658368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F1423"/>
                </a:solidFill>
                <a:latin typeface="微软雅黑"/>
                <a:ea typeface="微软雅黑"/>
              </a:rPr>
              <a:t>反验要求：补丁前确实没解决，套回后全部解决。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69080"/>
            <a:ext cx="11185855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>
                <a:solidFill>
                  <a:srgbClr val="0F1423"/>
                </a:solidFill>
                <a:latin typeface="微软雅黑"/>
                <a:ea typeface="微软雅黑"/>
              </a:rPr>
              <a:t>最窄规则按影响面判，不按 token 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{domain} 1 个 token 覆盖 235 个类型。</a:t>
            </a:r>
          </a:p>
        </p:txBody>
      </p:sp>
      <p:sp>
        <p:nvSpPr>
          <p:cNvPr id="12" name="灯片编号占位符 12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12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1,580 条转人工，真正要补权限 0 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每条都回答了「该谁修」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8A93A3"/>
                </a:solidFill>
                <a:latin typeface="微软雅黑"/>
                <a:ea typeface="微软雅黑"/>
              </a:rPr>
              <a:t>1,147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历史噪声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28415" y="137160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0078B4"/>
                </a:solidFill>
                <a:latin typeface="微软雅黑"/>
                <a:ea typeface="微软雅黑"/>
              </a:rPr>
              <a:t>342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工具对齐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3912" y="137160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EE822F"/>
                </a:solidFill>
                <a:latin typeface="微软雅黑"/>
                <a:ea typeface="微软雅黑"/>
              </a:rPr>
              <a:t>53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日志质量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79408" y="1371600"/>
            <a:ext cx="26517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E54C5E"/>
                </a:solidFill>
                <a:latin typeface="微软雅黑"/>
                <a:ea typeface="微软雅黑"/>
              </a:rPr>
              <a:t>38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撞红线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80360"/>
            <a:ext cx="3657600" cy="2011680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 w="12700">
            <a:solidFill>
              <a:srgbClr val="00B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>
                <a:solidFill>
                  <a:srgbClr val="3EA65B"/>
                </a:solidFill>
                <a:latin typeface="微软雅黑"/>
                <a:ea typeface="微软雅黑"/>
              </a:rPr>
              <a:t>0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真正需要给设备补权限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926080"/>
            <a:ext cx="711677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1">
                <a:solidFill>
                  <a:srgbClr val="0F1423"/>
                </a:solidFill>
                <a:latin typeface="微软雅黑"/>
                <a:ea typeface="微软雅黑"/>
              </a:rPr>
              <a:t>1,580 → 1,580，残留 0。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退出码 0 就是判据。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78B4"/>
                </a:solidFill>
                <a:latin typeface="微软雅黑"/>
                <a:ea typeface="微软雅黑"/>
              </a:rPr>
              <a:t>「需人工」不是洞，是主动拒绝越权。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166360"/>
            <a:ext cx="11185855" cy="640080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423"/>
                </a:solidFill>
                <a:latin typeface="微软雅黑"/>
                <a:ea typeface="微软雅黑"/>
              </a:rPr>
              <a:t>跨树稳定的是 DEVICE = 0；原因码数量随所选上游树变化</a:t>
            </a:r>
          </a:p>
        </p:txBody>
      </p:sp>
      <p:sp>
        <p:nvSpPr>
          <p:cNvPr id="13" name="灯片编号占位符 1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13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两端独立实现，输出逐字节相同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Python 与 C++ 喂同一份输入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3593592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600" b="1">
                <a:solidFill>
                  <a:srgbClr val="0078B4"/>
                </a:solidFill>
                <a:latin typeface="微软雅黑"/>
                <a:ea typeface="微软雅黑"/>
              </a:rPr>
              <a:t>5 / 5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F1423"/>
                </a:solidFill>
                <a:latin typeface="微软雅黑"/>
                <a:ea typeface="微软雅黑"/>
              </a:rPr>
              <a:t>门禁全绿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自检 48 组，0 失败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417320"/>
            <a:ext cx="3593592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600" b="1">
                <a:solidFill>
                  <a:srgbClr val="0078B4"/>
                </a:solidFill>
                <a:latin typeface="微软雅黑"/>
                <a:ea typeface="微软雅黑"/>
              </a:rPr>
              <a:t>27,912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F1423"/>
                </a:solidFill>
                <a:latin typeface="微软雅黑"/>
                <a:ea typeface="微软雅黑"/>
              </a:rPr>
              <a:t>条查询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覆盖 5 个字段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417320"/>
            <a:ext cx="3593592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600" b="1">
                <a:solidFill>
                  <a:srgbClr val="0078B4"/>
                </a:solidFill>
                <a:latin typeface="微软雅黑"/>
                <a:ea typeface="微软雅黑"/>
              </a:rPr>
              <a:t>2.98 MB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F1423"/>
                </a:solidFill>
                <a:latin typeface="微软雅黑"/>
                <a:ea typeface="微软雅黑"/>
              </a:rPr>
              <a:t>逐字节相同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输出体 sha256 一致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69080"/>
            <a:ext cx="11185855" cy="777240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四个语义陷阱：空 perms 通配 / xperm 大小写 / permissive 三态 / 未知 perm 名 —— 错一个哈希就炸。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074920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B6474"/>
                </a:solidFill>
                <a:latin typeface="微软雅黑"/>
                <a:ea typeface="微软雅黑"/>
              </a:rPr>
              <a:t>设备端是独立实现（C++ / musl），不是宿主程序的移植。</a:t>
            </a:r>
          </a:p>
        </p:txBody>
      </p:sp>
      <p:sp>
        <p:nvSpPr>
          <p:cNvPr id="14" name="灯片编号占位符 1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14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倒排索引：设备 34×，宿主 238×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从扫 21,824 条规则，变成查一个 (src, tgt, cls) 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3593592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600" b="1">
                <a:solidFill>
                  <a:srgbClr val="0078B4"/>
                </a:solidFill>
                <a:latin typeface="微软雅黑"/>
                <a:ea typeface="微软雅黑"/>
              </a:rPr>
              <a:t>34×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F1423"/>
                </a:solidFill>
                <a:latin typeface="微软雅黑"/>
                <a:ea typeface="微软雅黑"/>
              </a:rPr>
              <a:t>设备查询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0.0987 → 0.0029 ms/条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371600"/>
            <a:ext cx="3593592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600" b="1">
                <a:solidFill>
                  <a:srgbClr val="0078B4"/>
                </a:solidFill>
                <a:latin typeface="微软雅黑"/>
                <a:ea typeface="微软雅黑"/>
              </a:rPr>
              <a:t>238×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F1423"/>
                </a:solidFill>
                <a:latin typeface="微软雅黑"/>
                <a:ea typeface="微软雅黑"/>
              </a:rPr>
              <a:t>宿主判定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8.842 s → 0.037 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371600"/>
            <a:ext cx="3593592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600" b="1">
                <a:solidFill>
                  <a:srgbClr val="0078B4"/>
                </a:solidFill>
                <a:latin typeface="微软雅黑"/>
                <a:ea typeface="微软雅黑"/>
              </a:rPr>
              <a:t>151 → 1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F1423"/>
                </a:solidFill>
                <a:latin typeface="微软雅黑"/>
                <a:ea typeface="微软雅黑"/>
              </a:rPr>
              <a:t>索引建表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每棵树只建一次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69080"/>
            <a:ext cx="11185855" cy="731520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F1423"/>
                </a:solidFill>
                <a:latin typeface="微软雅黑"/>
                <a:ea typeface="微软雅黑"/>
              </a:rPr>
              <a:t>板端 71.25 s 是旧代码实测；约 2 s 是 34× 外推，上板需复测。</a:t>
            </a:r>
          </a:p>
        </p:txBody>
      </p:sp>
      <p:sp>
        <p:nvSpPr>
          <p:cNvPr id="15" name="灯片编号占位符 1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15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LLM 默认过宽，护栏按回最小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同批真实 denial 的三档对照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448056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4C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600" b="1">
                <a:solidFill>
                  <a:srgbClr val="E54C5E"/>
                </a:solidFill>
                <a:latin typeface="微软雅黑"/>
                <a:ea typeface="微软雅黑"/>
              </a:rPr>
              <a:t>100%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F1423"/>
                </a:solidFill>
                <a:latin typeface="微软雅黑"/>
                <a:ea typeface="微软雅黑"/>
              </a:rPr>
              <a:t>无约束 AI 直接放权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120/120 过宽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2286000"/>
            <a:ext cx="1188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8A93A3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1463040"/>
            <a:ext cx="448056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A6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600" b="1">
                <a:solidFill>
                  <a:srgbClr val="3EA65B"/>
                </a:solidFill>
                <a:latin typeface="微软雅黑"/>
                <a:ea typeface="微软雅黑"/>
              </a:rPr>
              <a:t>0%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0F1423"/>
                </a:solidFill>
                <a:latin typeface="微软雅黑"/>
                <a:ea typeface="微软雅黑"/>
              </a:rPr>
              <a:t>加确定性守门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120/120 拦回最小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5196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F1423"/>
                </a:solidFill>
                <a:latin typeface="微软雅黑"/>
                <a:ea typeface="微软雅黑"/>
              </a:rPr>
              <a:t>越权倾向消不掉，只能靠规则兜住。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29200"/>
            <a:ext cx="11185855" cy="685800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423"/>
                </a:solidFill>
                <a:latin typeface="微软雅黑"/>
                <a:ea typeface="微软雅黑"/>
              </a:rPr>
              <a:t>真实 LLM 在最小权限指令下 54/54 精确最小 —— 模型不是问题，无约束才是。</a:t>
            </a:r>
          </a:p>
        </p:txBody>
      </p:sp>
      <p:sp>
        <p:nvSpPr>
          <p:cNvPr id="16" name="灯片编号占位符 1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16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界面：如实区分数据来源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主机端 Agent Trace  ·  板端实时卡片  ·  快照现读</a:t>
            </a:r>
          </a:p>
        </p:txBody>
      </p:sp>
      <p:pic>
        <p:nvPicPr>
          <p:cNvPr id="4" name="Picture 3" descr="fig5-agent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791" y="1234440"/>
            <a:ext cx="2516056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08760" y="516636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主机端 Agent Trace</a:t>
            </a:r>
          </a:p>
        </p:txBody>
      </p:sp>
      <p:pic>
        <p:nvPicPr>
          <p:cNvPr id="6" name="Picture 5" descr="fig6-board-live-c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1953" y="1234440"/>
            <a:ext cx="2363372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09160" y="5166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板端实时卡片</a:t>
            </a:r>
          </a:p>
        </p:txBody>
      </p:sp>
      <p:pic>
        <p:nvPicPr>
          <p:cNvPr id="8" name="Picture 7" descr="fig7-board-snap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5193" y="1234440"/>
            <a:ext cx="2363372" cy="3840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51663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板端快照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577840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工具造成的 denial 明确标注，不冒充分析结果。</a:t>
            </a:r>
          </a:p>
        </p:txBody>
      </p:sp>
      <p:sp>
        <p:nvSpPr>
          <p:cNvPr id="17" name="灯片编号占位符 17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17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真机：拨一次开关，1~2 秒出结论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RK3568  ·  OpenHarmony 5.0.3.135  ·  enforcing</a:t>
            </a:r>
          </a:p>
        </p:txBody>
      </p:sp>
      <p:pic>
        <p:nvPicPr>
          <p:cNvPr id="4" name="Picture 3" descr="fig4-board-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7680960" cy="38404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412480" y="1325880"/>
            <a:ext cx="3276295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0F1423"/>
                </a:solidFill>
                <a:latin typeface="微软雅黑"/>
                <a:ea typeface="微软雅黑"/>
              </a:rPr>
              <a:t>正规 init service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开机自启，自有 enforcing 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2651760"/>
            <a:ext cx="3276295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0F1423"/>
                </a:solidFill>
                <a:latin typeface="微软雅黑"/>
                <a:ea typeface="微软雅黑"/>
              </a:rPr>
              <a:t>冷启动即采集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up 0 min 已在采集，本域 denial 0。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3977639"/>
            <a:ext cx="3276295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0F1423"/>
                </a:solidFill>
                <a:latin typeface="微软雅黑"/>
                <a:ea typeface="微软雅黑"/>
              </a:rPr>
              <a:t>端到端 1~2 秒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拨开关 → 采集 → 分析 → 通知。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185855" cy="640080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微软雅黑"/>
                <a:ea typeface="微软雅黑"/>
              </a:rPr>
              <a:t>部署依赖 PC，运行不依赖 PC。</a:t>
            </a:r>
          </a:p>
        </p:txBody>
      </p:sp>
      <p:sp>
        <p:nvSpPr>
          <p:cNvPr id="18" name="灯片编号占位符 1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18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最强的结果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每个数字都能用附录 A 复现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359359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400" b="1">
                <a:solidFill>
                  <a:srgbClr val="0078B4"/>
                </a:solidFill>
                <a:latin typeface="微软雅黑"/>
                <a:ea typeface="微软雅黑"/>
              </a:rPr>
              <a:t>0 误报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5,161 条真实日志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自动项零误报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325880"/>
            <a:ext cx="359359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400" b="1">
                <a:solidFill>
                  <a:srgbClr val="0078B4"/>
                </a:solidFill>
                <a:latin typeface="微软雅黑"/>
                <a:ea typeface="微软雅黑"/>
              </a:rPr>
              <a:t>99.94%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索引召回率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未覆盖仅 2 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325880"/>
            <a:ext cx="359359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400" b="1">
                <a:solidFill>
                  <a:srgbClr val="0078B4"/>
                </a:solidFill>
                <a:latin typeface="微软雅黑"/>
                <a:ea typeface="微软雅黑"/>
              </a:rPr>
              <a:t>100%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补丁精确最小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179/179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401568"/>
            <a:ext cx="359359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400" b="1">
                <a:solidFill>
                  <a:srgbClr val="0078B4"/>
                </a:solidFill>
                <a:latin typeface="微软雅黑"/>
                <a:ea typeface="微软雅黑"/>
              </a:rPr>
              <a:t>2.98 MB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两端输出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逐字节相同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401568"/>
            <a:ext cx="359359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400" b="1">
                <a:solidFill>
                  <a:srgbClr val="0078B4"/>
                </a:solidFill>
                <a:latin typeface="微软雅黑"/>
                <a:ea typeface="微软雅黑"/>
              </a:rPr>
              <a:t>34×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设备查询加速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宿主 238×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3401568"/>
            <a:ext cx="359359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9144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400" b="1">
                <a:solidFill>
                  <a:srgbClr val="0078B4"/>
                </a:solidFill>
                <a:latin typeface="微软雅黑"/>
                <a:ea typeface="微软雅黑"/>
              </a:rPr>
              <a:t>0 条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1,580 条转人工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要补权限 0 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85855" cy="594360"/>
          </a:xfrm>
          <a:prstGeom prst="roundRect">
            <a:avLst>
              <a:gd name="adj" fmla="val 6000"/>
            </a:avLst>
          </a:prstGeom>
          <a:solidFill>
            <a:srgbClr val="EA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78B4"/>
                </a:solidFill>
                <a:latin typeface="微软雅黑"/>
                <a:ea typeface="微软雅黑"/>
              </a:rPr>
              <a:t>三个零：零误报 · 零过宽 · 零待补权限。</a:t>
            </a:r>
          </a:p>
        </p:txBody>
      </p:sp>
      <p:sp>
        <p:nvSpPr>
          <p:cNvPr id="19" name="灯片编号占位符 19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19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四个坑，每一个都改了设计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共同点：都是「看起来正常」的假象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1423"/>
                </a:solidFill>
                <a:latin typeface="微软雅黑"/>
                <a:ea typeface="微软雅黑"/>
              </a:rPr>
              <a:t>neverallow 不在二进制里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设备端不能自建语义。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08192" y="132588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1423"/>
                </a:solidFill>
                <a:latin typeface="微软雅黑"/>
                <a:ea typeface="微软雅黑"/>
              </a:rPr>
              <a:t>printk 会静默丢 denial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日志和采集器一起失明。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4612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1423"/>
                </a:solidFill>
                <a:latin typeface="微软雅黑"/>
                <a:ea typeface="微软雅黑"/>
              </a:rPr>
              <a:t>init 的 caps 是整套替换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只有 SYSLOG，就没了 DAC_OVERRIDE。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08192" y="3246120"/>
            <a:ext cx="534924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F1423"/>
                </a:solidFill>
                <a:latin typeface="微软雅黑"/>
                <a:ea typeface="微软雅黑"/>
              </a:rPr>
              <a:t>差分语料证不了分支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固定向量首跑抓出 2 个偏差。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257800"/>
            <a:ext cx="11185855" cy="640080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服务活着、日志干净、策略也对 —— 缺陷藏在看不见的地方。</a:t>
            </a:r>
          </a:p>
        </p:txBody>
      </p:sp>
      <p:sp>
        <p:nvSpPr>
          <p:cNvPr id="20" name="灯片编号占位符 20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20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每个数字能证明什么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8" y="786384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A93A3"/>
                </a:solidFill>
                <a:latin typeface="微软雅黑"/>
                <a:ea typeface="微软雅黑"/>
              </a:rPr>
              <a:t>安全工具的可信度来自说清边界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>
                <a:solidFill>
                  <a:srgbClr val="0F1423"/>
                </a:solidFill>
                <a:latin typeface="微软雅黑"/>
                <a:ea typeface="微软雅黑"/>
              </a:rPr>
              <a:t>语料来自上游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96.8% 逐字来自 .te 注释。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08192" y="132588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>
                <a:solidFill>
                  <a:srgbClr val="0F1423"/>
                </a:solidFill>
                <a:latin typeface="微软雅黑"/>
                <a:ea typeface="微软雅黑"/>
              </a:rPr>
              <a:t>自洽不等于金标准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100% 是留一法自洽验证。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608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>
                <a:solidFill>
                  <a:srgbClr val="0F1423"/>
                </a:solidFill>
                <a:latin typeface="微软雅黑"/>
                <a:ea typeface="微软雅黑"/>
              </a:rPr>
              <a:t>外推值必须标注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板端约 2 s 是外推。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08192" y="292608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>
                <a:solidFill>
                  <a:srgbClr val="0F1423"/>
                </a:solidFill>
                <a:latin typeface="微软雅黑"/>
                <a:ea typeface="微软雅黑"/>
              </a:rPr>
              <a:t>证伪也写进结论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B6474"/>
                </a:solidFill>
                <a:latin typeface="微软雅黑"/>
                <a:ea typeface="微软雅黑"/>
              </a:rPr>
              <a:t>boolean / constrain 在本平台不存在。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26280"/>
            <a:ext cx="11185855" cy="731520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微软雅黑"/>
                <a:ea typeface="微软雅黑"/>
              </a:rPr>
              <a:t>索引须与策略树对齐：板子 5.0.3.135 ≠ 编译树 6.1.0.31。</a:t>
            </a:r>
          </a:p>
        </p:txBody>
      </p:sp>
      <p:sp>
        <p:nvSpPr>
          <p:cNvPr id="21" name="灯片编号占位符 21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21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>
          <a:xfrm>
            <a:off x="502920" y="182880"/>
            <a:ext cx="8595360" cy="566928"/>
          </a:xfrm>
        </p:spPr>
        <p:txBody>
          <a:bodyPr wrap="square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1423"/>
                </a:solidFill>
                <a:latin typeface="微软雅黑"/>
                <a:ea typeface="微软雅黑"/>
              </a:rPr>
              <a:t>不足与下一步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F5F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0078B4"/>
                </a:solidFill>
                <a:latin typeface="微软雅黑"/>
                <a:ea typeface="微软雅黑"/>
              </a:rPr>
              <a:t>交付前必补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600" b="1">
                <a:solidFill>
                  <a:srgbClr val="00B0F0"/>
                </a:solidFill>
                <a:latin typeface="微软雅黑"/>
                <a:ea typeface="微软雅黑"/>
              </a:rPr>
              <a:t>▍ </a:t>
            </a:r>
            <a:r>
              <a:rPr sz="1600" b="0">
                <a:solidFill>
                  <a:srgbClr val="0F1423"/>
                </a:solidFill>
                <a:latin typeface="微软雅黑"/>
                <a:ea typeface="微软雅黑"/>
              </a:rPr>
              <a:t>板端 34× 与 explain 向量待真机复测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600" b="1">
                <a:solidFill>
                  <a:srgbClr val="00B0F0"/>
                </a:solidFill>
                <a:latin typeface="微软雅黑"/>
                <a:ea typeface="微软雅黑"/>
              </a:rPr>
              <a:t>▍ </a:t>
            </a:r>
            <a:r>
              <a:rPr sz="1600" b="0">
                <a:solidFill>
                  <a:srgbClr val="0F1423"/>
                </a:solidFill>
                <a:latin typeface="微软雅黑"/>
                <a:ea typeface="微软雅黑"/>
              </a:rPr>
              <a:t>HAP 开机不自启，需手点一次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600" b="1">
                <a:solidFill>
                  <a:srgbClr val="00B0F0"/>
                </a:solidFill>
                <a:latin typeface="微软雅黑"/>
                <a:ea typeface="微软雅黑"/>
              </a:rPr>
              <a:t>▍ </a:t>
            </a:r>
            <a:r>
              <a:rPr sz="1600" b="0">
                <a:solidFill>
                  <a:srgbClr val="0F1423"/>
                </a:solidFill>
                <a:latin typeface="微软雅黑"/>
                <a:ea typeface="微软雅黑"/>
              </a:rPr>
              <a:t>cross-layer / hap 计数仍待真机证据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0" y="1371600"/>
            <a:ext cx="5562295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AF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914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0078B4"/>
                </a:solidFill>
                <a:latin typeface="微软雅黑"/>
                <a:ea typeface="微软雅黑"/>
              </a:rPr>
              <a:t>下一步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600" b="1">
                <a:solidFill>
                  <a:srgbClr val="00B0F0"/>
                </a:solidFill>
                <a:latin typeface="微软雅黑"/>
                <a:ea typeface="微软雅黑"/>
              </a:rPr>
              <a:t>▍ </a:t>
            </a:r>
            <a:r>
              <a:rPr sz="1600" b="0">
                <a:solidFill>
                  <a:srgbClr val="0F1423"/>
                </a:solidFill>
                <a:latin typeface="微软雅黑"/>
                <a:ea typeface="微软雅黑"/>
              </a:rPr>
              <a:t>改审计 netlink，取无损通道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600" b="1">
                <a:solidFill>
                  <a:srgbClr val="00B0F0"/>
                </a:solidFill>
                <a:latin typeface="微软雅黑"/>
                <a:ea typeface="微软雅黑"/>
              </a:rPr>
              <a:t>▍ </a:t>
            </a:r>
            <a:r>
              <a:rPr sz="1600" b="0">
                <a:solidFill>
                  <a:srgbClr val="0F1423"/>
                </a:solidFill>
                <a:latin typeface="微软雅黑"/>
                <a:ea typeface="微软雅黑"/>
              </a:rPr>
              <a:t>索引降到板子版本 5.0.3</a:t>
            </a:r>
          </a:p>
          <a:p>
            <a:pPr>
              <a:lnSpc>
                <a:spcPct val="130000"/>
              </a:lnSpc>
              <a:spcBef>
                <a:spcPts val="1200"/>
              </a:spcBef>
            </a:pPr>
            <a:r>
              <a:rPr sz="1600" b="1">
                <a:solidFill>
                  <a:srgbClr val="00B0F0"/>
                </a:solidFill>
                <a:latin typeface="微软雅黑"/>
                <a:ea typeface="微软雅黑"/>
              </a:rPr>
              <a:t>▍ </a:t>
            </a:r>
            <a:r>
              <a:rPr sz="1600" b="0">
                <a:solidFill>
                  <a:srgbClr val="0F1423"/>
                </a:solidFill>
                <a:latin typeface="微软雅黑"/>
                <a:ea typeface="微软雅黑"/>
              </a:rPr>
              <a:t>板内触发，闭环不依赖 PC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617720"/>
            <a:ext cx="11185855" cy="640080"/>
          </a:xfrm>
          <a:prstGeom prst="roundRect">
            <a:avLst>
              <a:gd name="adj" fmla="val 6000"/>
            </a:avLst>
          </a:prstGeom>
          <a:solidFill>
            <a:srgbClr val="0F14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164592" tIns="109728" bIns="9144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先把演示链上的断言都补成真机证据。</a:t>
            </a:r>
          </a:p>
        </p:txBody>
      </p:sp>
      <p:sp>
        <p:nvSpPr>
          <p:cNvPr id="22" name="灯片编号占位符 22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>
                <a:latin typeface="微软雅黑"/>
                <a:ea typeface="微软雅黑"/>
              </a:rPr>
              <a:t>22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false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false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true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false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false"/>
          </a:effectLst>
        </a:effectStyle>
        <a:effectStyle>
          <a:effectLst>
            <a:outerShdw blurRad="57150" dist="19050" dir="5400000" algn="ctr" rotWithShape="false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false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cp="http://schemas.openxmlformats.org/package/2006/metadata/core-properties" xmlns:dc="http://purl.org/dc/elements/1.1/">
  <dcterms:created xsi:type="dcterms:W3CDTF">2026-09-21T14:20:13Z</dcterms:created>
  <dcterms:modified xsi:type="dcterms:W3CDTF">2026-09-21T14:20:13Z</dcterms:modified>
</cp:coreProperties>
</file>